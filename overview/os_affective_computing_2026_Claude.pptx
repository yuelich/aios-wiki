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18.xml"/><Relationship Id="rId5" Type="http://schemas.openxmlformats.org/officeDocument/2006/relationships/slide" Target="slides/slide19.xml"/><Relationship Id="rId6" Type="http://schemas.openxmlformats.org/officeDocument/2006/relationships/slide" Target="slides/slide20.xml"/><Relationship Id="rId7" Type="http://schemas.openxmlformats.org/officeDocument/2006/relationships/slide" Target="slides/slide21.xml"/><Relationship Id="rId8" Type="http://schemas.openxmlformats.org/officeDocument/2006/relationships/slide" Target="slides/slide22.xml"/><Relationship Id="rId9" Type="http://schemas.openxmlformats.org/officeDocument/2006/relationships/slide" Target="slides/slide23.xml"/><Relationship Id="rId10" Type="http://schemas.openxmlformats.org/officeDocument/2006/relationships/slide" Target="slides/slide24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封面页。三个分析维度：技术栈地图、竞品情感计算地图、竞品商业落地情况。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情感计算三大任务。重点强调：行为模态（系统事件）是OS层独有的采集优势，★标注。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四层架构 —— 每层职责、输入输出与依赖关系：
【依赖关系】严格自底向上单向依赖：L1→L2→L3→L4。上层只消费下层的输出，不直接访问更底层的原始数据（如L4不直接读L1原始事件，只读L3的状态）。这种分层解耦使每层可独立替换、独立测试。
══ L1 信号采集层 ══
· 职责：从系统级公开信号采集原始行为事件，无感、零用户操作。
· 输入：系统级公开信号（UsageStats、通知服务、输入法节律、传感器）。
· 输出：原始事件流（带时间戳的行为事件序列）。
· 技术点出处：应用使用→Canzian &amp; Musolesi 2015 / LiKamWa 2013；击键动态→Sensors 2020综述；活动+位置→StudentLife (Wang 2014)。
══ L2 特征工程层 ══
· 职责：把离散事件流抽象为可建模的行为特征，并以个体自身历史为参照。
· 输入：L1的原始事件流。
· 输出：行为特征向量（日级聚合 + 个体基线偏离度）。
· 技术点出处：会话切分→RAPIDS pipeline (Vega 2021)；个体基线→npj Digital Medicine 2024；变点检测→Barnett (UPenn) / eB2 study 2018；多模态融合→AWARE特征族。
══ L3 状态推断层 ══
· 职责：从特征推断用户状态，并给出证据与置信度，支持个体校准。
· 输入：L2的行为特征向量。
· 输出：状态标签 + 证据 + 置信度。
· 技术点出处：时序模型→Morshed 2019 (mood instability)；LLM证据生成→AffectGPT-R1 (2026)；个性化校准→LiKamWa 2013 (66%→93%) / FedFAP 2026。
══ L4 响应执行层 ══
· 职责：把状态转化为系统策略并回收反馈，闭环优化。
· 输入：L3的状态+证据+置信度。
· 输出：系统响应策略（通知/UI/Agent）+ 反馈数据。
· 技术点出处：状态服务API为自研Harness（工程设计）；通知调度/响应调节为产品设计；联邦学习更新→FedFAP (arXiv:2602.15478, 2026)。
注：标注"自研/产品设计"者非外部技术；其余为可查公开方法。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 各维度变化的数据出处（均为可查论文）：
【情绪类别数：6 → 2000+】
- 传统：Ekman 6类基本情绪（Ekman 1992）。
- 新：MER-Caption数据集含 2000+ 细粒度情绪类别（AffectGPT, ICML 2025, arXiv:2501.16566）；OV-MERD含236类（OV-MER, ICML 2025）。
【标注形式：单标签 → 多标签】
- OV-MERD 多数样本含 2-4 个情绪标签，远超传统单标签（OV-MER paper, arXiv:2410.01495）。
【输出方式：黑盒分类 → 证据链】
- AffectGPT-R1 输出 thinking(证据链)+answer，从"判定结果"转向"可解释推理"（arXiv:2508.01318, 2026）。
【数据集规模：~10³ → 10⁵】
- 传统 IEMOCAP 约5千句、CMU-MOSI 约2千段；MER-Caption 达 115K 样本（AffectGPT, ICML 2025）——量级提升约2个数量级。
【建模目标 / 评测指标：封闭 → 开放】
- OV-MER 引入开放词汇范式与"情绪轮(emotion wheel)"相似度度量，替代固定标签的准确率（OV-MER, ICML 2025）。
- MER-UniBench 为自然语言输出设计的统一评测（AffectGPT, ICML 2025）。
【性能进步：+9%】
- AffectGPT 较现有 MLLM 平均提升 9%+（AffectGPT 论文摘要，arXiv:2501.16566）；MER2025基准上 AffectGPT(MER-Caption+) Avg 46.86 vs 最强baseline mPLUG-Owl 36.80（MER 2025, arXiv:2504.19423）。
【理论根基】
- valence-arousal 维度情感空间：Russell Circumplex Model (1980)。
注：所有数字引自上述公开论文，以原文为准；"各基准饱和"为定性表述。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竞品出处链接：Google-Hume：WIRED报道Google DeepMind以许可协议吸纳Hume CEO和核心工程师 https://www.wired.com/story/google-hires-hume-ai-ceo-licensing-deal-gemini/；Hume EVI官方文档：EVI 4-mini支持11种语言、可输出ASR转写文本、句级expression measures，并基于prosody和language指导语音回复 https://dev.hume.ai/docs/speech-to-speech-evi/overview；Hume Speech Prosody官方文档：识别tune/rhythm/timbre中的25+模式（公开产品资料未给统一准确率，因此PPT写“未公开统一准确率”）https://www.hume.ai/products/expression-measurement/prosody；Samsung Energy Score/Vitals：睡眠、活动、睡眠心率、HRV等 https://news.samsung.com/global/galaxy-ai-is-coming-to-new-galaxy-watch-for-more-motivational-health；vivo OriginOS 6官方可证据：空间系统、动态光效、渐变模糊、vivo Sans、自然动画 https://www.vivo.com/originos；Apple State of Mind/Health隐私： https://www.apple.com/newsroom/2023/06/apple-provides-powerful-insights-into-new-areas-of-health/。vivo补充核验：截至2026-06-29公开搜索未找到“通过视觉听觉触觉通道洞悉情绪”和“40+人因研究”的官方出处，PPT主画面以“40+人因口径待核验”标注，避免当成已证实官方事实。分析：vivo不是传统情绪识别，而是把情感工程化为低负荷体验，官方可证据支撑的是呈现/动效/字体/空间系统；若后续拿到40+人因研究出处，可升级为“人因验证驱动的舒适工程”。本页已收敛为四家竞品：Google、Apple、Samsung、vivo。横向结论：Google强在Gemini/Hume语音交互瞬间，Apple强在State of Mind/Health/Watch隐私健康闭环，Samsung强在Vitals/Energy Score恢复基线，vivo强在OriginOS体验舒适工程。四家都没有公开形成“跨App行为节律→共享用户状态→系统应用一致响应”的OS级状态服务，这构成UTM机会。共同缺口：Hume强在语音/文本+韵律，Samsung强在恢复/vitals，vivo强在舒适工程，但都没有形成跨App行为状态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商业落地现状：三栏分类。真正落地、营销大于技术、研究到产品的缺口。第三栏是我们的机会。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OS不可替代性。右侧是UTM的4档状态和对应响应策略。底部是对外沟通话术：节奏感知而非情绪监控。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集成矩阵：6个系统应用×4个状态=24种响应策略。关键是API简单，接入成本低。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可行性结论：技术完全可行，4周Demo，12个月平台化。三大风险都有对策。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三点结论：技术范式转移、竞品缺口、UTM是基础设施而非功能。最后一句话是整个方案的核心价值主张。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本页判断与出处（均为厂商公开信息）：
【Google】2026年1月22日，Google DeepMind 通过授权协议引入 Hume AI CEO Alan Cowen 及约7名核心工程师，将 Empathic Voice Interface(EVI) 情感语音能力并入 Gemini；Hume 独立运营、新任CEO Andrew Ettinger、2026目标营收1亿美元。同期 Google 拿下 Siri 智能层多年合约，情感语音成为对抗 OpenAI 的差异化。
- 出处：TechCrunch (2026-01-22, techcrunch.com/2026/01/22/google-reportedly-snags-up-team-behind-ai-voice-startup-hume-ai)；Sci-Tech-Today (2026-02-03)；newsbytesapp.com (2026-01-23)
- EVI 技术细节(prosody韵律、&lt;300ms延迟、EV4-mini多语种)出处：Contrary Research 公司报告 (research.contrary.com/company/hume-ai, 2026-01)
【Apple】State of Mind 为主动心境记录，需用户主动反思输入；Health App 内含 PHQ-9(抑郁)与 GAD-7(焦虑)临床量表；State of Mind/Depression Risk/Anxiety Risk 全部端侧处理(on-device)；可关联 Exercise/Sleep/Time in Daylight 等 life factors。
- 出处：Apple Support 官方文档 (support.apple.com/en-us/105070 及 /105000)；Apple WWDC24 "Explore wellbeing APIs in HealthKit" (developer.apple.com/videos/play/wwdc2024/10109)
- "all processing occurs on device" 原文出自 Apple Support；PHQ-9/GAD-7 由 Pfizer 提供、公共领域
【Samsung】Energy Score 为0-100评分，基于睡眠/活动/睡眠心率/睡眠HRV四类因子，需佩戴Galaxy Watch4或以上同步Samsung Health；2026.6 推出 Vitals 功能，分析5项夜间生理信号(心率/HRV/呼吸率/皮温/血氧)与个人静息基线对比，仅在显著偏离时通知以避免警报疲劳。
- 出处：Samsung Global Newsroom (2025-10-17 "Galaxy AI Is Coming to New Galaxy Watch"; 2026-06-04 "Next-Gen Galaxy Watch Features", news.samsung.com)；Samsung 官方支持文档 (samsung.com/us/support/answer/ANS10003272)
【华为】HMAF (HarmonyOS Multi-agent / Agent Framework) 支持跨App任务编排，Lawfare 分析指出 Android 与 iOS 当前缺少对等的跨App智能体编排能力。HarmonyOS Next(纯血鸿蒙)2024推出，截至2026.1超90%华为设备运行自研版本。
- 出处：Lawfare "Huawei Is Betting on the Future with HarmonyOS" (2026-03-13, lawfaremedia.org)
【vivo】OriginOS 舒适工程将情感落到视觉/动效/触感/阅读舒适层；联合高校与医院开展40+人因研究形成"舒适标准体系"。属体验工程视角，非被动状态推断。
- 出处：vivo 开发者大会 OriginOS 6 发布资料（2025-10，公开报道）
【市场背景】情感计算市场2026年预计达1187亿美元(affective computing market, $118.7B 2026)。
- 出处：Sci-Tech-Today (2026-02-03) 援引行业预测
注：本页所有评价为基于上述公开信息的定性归纳，非量化打分；各厂商内部能力可能超出公开披露范围。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本页为逐层、逐家核查后的判断（区分"有平台能力"与"用于情感推断"两件事）：
【核心修正】之前误判Google/华为在底层全空白。核查后：竞品多数具备L1-L2的通用平台能力，但都未将其接入情感状态推断——空白不在"技术不可达"，而在"战略未选择"。这反而强化了UTM的论点。
══ Google / Android（语音路线）══
· L4● Gemini对话响应；L3● 情感推断走Hume EVI声学prosody（2026收购）。
· L1◐ L2◐：Android系统层有 UsageStatsManager（API 21+，提供应用使用历史，按天/周/月/年聚合）与 Digital Wellbeing（追踪屏幕时间、解锁次数、通知数）——这是实打实的L1采集+L2聚合能力。但仅用于屏幕时间管理/数字健康，未接入情感推断。
  出处：Android UsageStatsManager 官方API (developer.android.com / Microsoft Learn API doc)；Digital Wellbeing 追踪解锁次数等 (thebinaryhick.blog 2020取证分析)；AWARE框架基于这些API做被动感知 (arXiv:2205.14641)。
══ Apple / iOS（健康路线）══
· L4● 健康App；L3● PHQ-9/GAD-7量表推断。
· L1◐ 主动情绪记录（非纯被动）；L2◐ 可关联life factors（睡眠/运动/日照）但非跨App行为特征基线。Screen Time 亦提供使用统计但未接入情绪。
  出处：见P5/P8备注（Apple Support 105070；WWDC24）。
══ Samsung / One UI（生理路线）══
· L1● 生理信号采集；L2● 个人基线（Vitals即"vs个人静息基线"）；L3● Energy Score(0-100)；L4◐ 止于健康提醒，无系统级响应编排。注：信号是生理非手机行为。
  出处：Samsung Newsroom 2025-10/2026-06。
══ 华为 / HarmonyOS（编排路线）══
· L4● HMAF跨App任务编排能力最强（Lawfare评Android/iOS无对等）；HMAF官方定位为"system-level understanding, planning, and execution"。
· L3◐ 含"意图理解/上下文感知"（扫屏、Circle-to-Search式），但这是【任务意图】层面（你想做什么），非【情感状态】层面（你处于什么情绪）——故标◐并加*注。
· L2○；L1◐ 有屏幕内容扫描与跨设备上下文，但服务于任务执行非情感采集。
  出处：HMAF "system-level understanding, planning, execution"、20万亿token (gizmochina 2025-06-21)；扫屏/跨App (Lawfare 2026-03; TMCnet)；HDC2025 四大支柱 (oreateai 2026-02)。
══ vivo / OriginOS（体验路线）══
· L4◐ 体验层响应(动效/触感)；L1◐ 环境光/运动等物理传感；L2○ L3○ 无真正情感状态推断。
  出处：OriginOS 6 舒适工程（公开报道）。
══ UTM（行为路线，我方）══
· L1-L4全栈●，走行为信号路线——与六家均不重叠。
【建议】
1. 不与Google/Apple在L3争"更准的情绪识别"、不与华为在L4争"更强的任务编排"——这些是各家护城河。
2. 真正空白：把OS已有的L1-L2行为采集能力（UsageStats类）首次接入L3情感状态推断，并贯通到L4系统响应。
3. 差异化根基在"行为信号→情感状态"的接入点，这是六家都未走通的路径。
注：覆盖度为基于公开信息的定性判断；●◐○为相对评级，非量化打分。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六家厂商情感计算的定位归纳（含出处）：
【Google｜对话层】Hume EVI声学情感并入Gemini(2026.1收购)，拿下Siri智能层；强在语音交互瞬间，弱在长期OS行为状态。出处：TechCrunch 2026-01-22；Sci-Tech-Today。
【Apple｜健康层】State of Mind主动记录+PHQ-9/GAD-7+全端侧；Siri AI于2026年6月8日WWDC26正式发布(底层Gemini)，具personal context/on-screen awareness/cross-app actions——但其上下文是【任务上下文】(找邮件确认码、朋友推荐餐厅)，非情感状态。出处：apple.com/newsroom 2026-06；appleinsider 2026-04-22(Gemini底层)；Apple Support 105070。
【Samsung｜生理层】Energy Score(0-100,睡眠/活动/睡眠心率/HRV)+Vitals(5项夜间生理信号vs个人基线)；生理路线非手机行为。出处：Samsung Newsroom 2025-10/2026-06。
【华为｜编排层】HMAF "system-level understanding/planning/execution"，小艺扫屏+跨App任务编排，Lawfare评Android/iOS无对等；但理解的是任务意图非情感状态。出处：gizmochina 2025-06-21；Lawfare 2026-03-13。
【vivo｜体验层】OriginOS舒适工程，情感落到视觉/动效/触感/阅读；体验工程非状态推断。出处：OriginOS 6公开资料。
【小米｜陪伴层】超级小爱接入DeepSeek-R1(2025.2)，主打情感语音陪伴("线上好友"、富情感声音)；澎湃AI引擎"本地获取、分析用户行为"做个性化；2025.8活跃率37.7%居厂商助手首位。但情感停留在语音陪伴+个性化推荐，无系统级情感状态推断框架。出处：xiaoai.mi.com；澎湃AI引擎说明(beihangsoft 2026-01)；QuestMobile 2025-08(活跃率)；CSDN 2025-02(DeepSeek-R1)。
【共同空白】六家各占一层(对话/健康/生理/编排/体验/陪伴)，但无人做"跨App行为信号→个人基线→情感状态→系统响应"的OS级状态服务——这是UTM的差异化坐标。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五模态评估（2026.6更新）：
①文本对话：LLM原生。模型厂商分两派——拥抱派(Hume/Character.AI/Replika/Inflection Pi)、克制派(OpenAI/Anthropic主动抑制情感依赖，OpenAI与MIT做依赖研究并于2025加心理健康护栏)。但所有模型厂商只能做对话内情感(①②)，行为数据在OS手里拿不到——OS结构性壁垒。
②语音韵律：Hume EVI&lt;300ms，2026.1团队入DeepMind(TechCrunch 2026-01-22)。
③视觉：算法成熟(MediaPipe/AU)但微软2022年主动下架Azure Emotion API，理由为伦理风险+表情≠情绪科学争议——大厂对视觉情绪模态的公开撤退，隐私/伦理天花板实证。
④生理：Samsung Energy Score/Vitals(Newsroom 2025-10/2026-06)；Google I/O 2026(2026.5)发布Google Health app+Fitbit Air，生理资产在收拢但仍健康向(blog.google 2026-05)。
⑤OS行为：平台采集API现成(UsageStats/Digital Wellbeing/Screen Time)但全行业止于统计。最新单点：Google Pause Point(2026.5，防doomscroll行为干预)——证明"行为检测→干预"在隐私叙事上可行(用防沉迷包装)，但仍是单点规则非状态模型。学术验证十年：Mohr 2017；StudentLife 2014；个性化66%→93%(LiKamWa 2013)。
PC时代教训(佐证)：Clippy(1997)行为感知→主动帮助，因状态判断差+打断时机错成为反面教材，2007移除——证明需求真实但对准确率极敏感；手机信号密度远超PC，这次可能成立。
Google I/O 2026无任何情感计算直接布局：Spark(24/7任务Agent)、Halo(非打断Agent状态层)、Daily Brief均为任务型，理解原料是内容数据非行为数据。但Spark+Halo是"前置基建"——容器已建好，装的是任务进度非用户状态；空白窗口期有限，"为什么是现在"的紧迫性论据。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厂商模态边界（2026.6更新），判断依据：
【Google】①②见前；④更新：I/O 2026(2026.5)发布Google Health app+Fitbit Air，生理资产从Fitbit App收拢到一方健康App，仍健康向(blog.google/google-ai-updates-may-2026)。⑤更新：Pause Point(防doomscroll)为首个行为检测→干预单点(blog.google Android Show 2026-05-12)；Gemini Spark为24/7任务Agent，Daily Brief扫Gmail/Calendar——理解原料是内容非行为；Android Halo为非打断Agent状态容器(9to5google 2026-05-19)。I/O 2026全场无情感计算直接布局。
【Apple】Siri AI 2026.6发布(Gemini底层)，读屏/短信回复/图库问答全为任务与内容理解，无情绪特性(apple.com/newsroom 2026-06)；State of Mind见前(Apple Support 105070)。
【Samsung】Galaxy AI效率向；Energy Score+Vitals(Newsroom 2025-10/2026-06)。
【vivo】VDC 2025(2025.10)更新：官方明确舒适工程"感知、行为、情感"三层，情感层"基于人因研究和AI的情感理解…甚至洞悉人的情绪，主动提供专属化服务"——唯一公开宣称洞悉情绪的厂商(品玩/新华网 2025-10)。但当前落地为舒适功能：护眼3000K、AI舒眠学习作息渐进调节色温、晕动辅助(缓解率87%)。蓝心3B五合一模型(语言+多模态+推理+128K+UI Agent)为OpenCompass 10B内SOTA(量子位 2025-10)；蓝心个人智能框架"全域感知+多模态数据融合+个人化数据沉淀"；意图框架2.0兼容MCP/A2A，50+伙伴/100+意图类型。AI舒眠的作息学习=轻量行为规律学习，故⑤从○升◐。
【模型厂商边界】Hume/Character.AI/Replika/Pi做对话内情感；OpenAI/Anthropic克制派。均无法触及⑤——行为数据在OS，结构性壁垒。
【PC教训】Clippy(1997-2007)行为感知→主动帮助因判断差被移除；微软Emotion API 2022主动下架(伦理)。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Google逐格出处：Gemini情感(TechCrunch 2026-01)；EVI(Contrary Research)；MediaPipe开发者工具；Fitbit 2021收购$2.1B、Body Response EDA(Fitbit Sense文档)；Google Health app+Fitbit Air(blog.google 2026-05)；UsageStats(developer.android.com)；Gemini长上下文为百万级token(Google官方,非128K)；MediaPipe输出FaceMesh关键点/blendshapes而非FACS AU；Body Response为Pixel Watch 2 cEDA传感特性(Google官方2023)；Pause Point/Spark/Halo(Android Show &amp; I/O 2026, blog.google 2026-05)。I/O 2026全场无情感计算布局。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Apple逐格出处：Siri AI 2026.6发布、Gemini底层(apple.com/newsroom 2026-06；appleinsider 2026-04)；读屏/图库问答(WWDC26)；State of Mind/PHQ/GAD端侧(Apple Support 105070)；Watch传感(Apple官方)。低可信度信号(仅备注)：windowsnews.ai(2026-06,内容可靠性一般)称Apple或于2026底让端侧模型理解语气/情绪线索——未经官方确认，待WWDC/官方渠道验证。Siri智能层用Gemini为appleinsider等多家报道(2026-04)，Apple未官方确认模型供应商；Foundation Models框架为Apple自研(WWDC24/25官方)。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vivo逐格出处：VDC 2025(2025-10-10)：舒适工程'感知/行为/情感'三层，情感层'基于人因研究和AI的情感理解…甚至洞悉人的情绪'(品玩/新华网/凤凰网 2025-10)；蓝心3B五合一(语言+多模态+推理+128K+UI Agent)OpenCompass 10B内SOTA(量子位)；声音记忆'谁何时说了什么'；意图框架2.0兼容MCP/A2A、50+伙伴；AI舒眠学习作息渐进调色温；晕动辅助缓解率87%；Watch GT2搭载BlueOS 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微软逐格出处：Copilot Appearance实时表情/情绪表达(neowin 2025-07)；Emotion API 2022主动下架(伦理+表情≠情绪争议)；Recall 2024风暴→2025底重构上线：opt-in、每次搜索需Windows Hello、VBS enclave+TPM密钥、尊重DRM/隐私浏览(medium/hawkdive 2026)；Copilot Health 2026.5 preview：接Apple Health穿戴、250+医生、'promoting emotional wellbeing'护栏(microsoft.com blog 2026-05-29)；Focus Mode(仅windowsnews.ai报道·低可信度·待Build官方确认)；Clippy(1997-2007)行为感知→主动帮助因判断差移除。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总页。三条规律为四页厂商深析的横向归纳：①错位规律指向UTM切入点(把已有采集接入状态推断)；②不对称规律说明风险集中在推断的准确率与正当性；③叙事规律论证'节奏感知'措辞的战略必要性——它是继对话、健康之后行为模态需要的第三个正当叙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D2010"/>
          </a:solidFill>
          <a:ln w="12700">
            <a:solidFill>
              <a:srgbClr val="112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91A0B"/>
          </a:solidFill>
          <a:ln w="12700">
            <a:solidFill>
              <a:srgbClr val="0D1F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情感计算洞察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Affective Computing on Mobile OS · 技术地图 · 竞品态势 · 商业落地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10896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08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技术栈地图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10896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0C1A1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108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竞品情感计算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310896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0C1A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3108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商业落地分析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 ·  OS Platform Strategy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背景定义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什么是情感计算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Affective Computing — 让机器感知、理解、回应人类情绪状态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14800" cy="1051560"/>
          </a:xfrm>
          <a:prstGeom prst="rect">
            <a:avLst>
              <a:gd name="adj" fmla="val 695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领域定义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 MIT Rosalind Picard 1997年提出。核心目标：让系统能够识别用户情绪状态，并据此调整自身行为——从被动执行指令，到主动适应人的状态。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31920" cy="1051560"/>
          </a:xfrm>
          <a:prstGeom prst="rect">
            <a:avLst>
              <a:gd name="adj" fmla="val 695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三大核心任务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8470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 Recognition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从信号推断情绪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048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建模 Modeling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情绪状态内部表征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2494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 Response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自适应调整行为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主要感知模态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1572768" cy="1719072"/>
          </a:xfrm>
          <a:prstGeom prst="rect">
            <a:avLst>
              <a:gd name="adj" fmla="val 4651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" y="303580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401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面部表情 / 姿态 / 眼动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9136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前摄像头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2926080"/>
            <a:ext cx="1572768" cy="1719072"/>
          </a:xfrm>
          <a:prstGeom prst="rect">
            <a:avLst>
              <a:gd name="adj" fmla="val 4651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12848" y="303580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C1A1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3401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音调 / 节奏 / 语速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94560" y="39136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麦克风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94760" y="2926080"/>
            <a:ext cx="1572768" cy="1719072"/>
          </a:xfrm>
          <a:prstGeom prst="rect">
            <a:avLst>
              <a:gd name="adj" fmla="val 4651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04488" y="303580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C1A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04488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86200" y="3401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用词 / 语气 / 句式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86200" y="39136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2926080"/>
            <a:ext cx="1572768" cy="1719072"/>
          </a:xfrm>
          <a:prstGeom prst="rect">
            <a:avLst>
              <a:gd name="adj" fmla="val 4651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96128" y="303580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C1A1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3401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触屏节奏 / App切换 / 解锁频率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39136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系统事件 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78040" y="2926080"/>
            <a:ext cx="1572768" cy="1719072"/>
          </a:xfrm>
          <a:prstGeom prst="rect">
            <a:avLst>
              <a:gd name="adj" fmla="val 4651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87768" y="303580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C1A1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87768" y="3035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69480" y="34015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心率 / 皮电 / HRV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69480" y="391363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穿戴设备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技术地图 · PART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情感计算技术栈：四层依赖架构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上层依赖下层输出 · 数据自底向上逐层抽象 · 各层职责与I/O见备注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130C22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630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响应执行层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46304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输入：状态+证据+置信度 → 输出：系统策略+反馈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65960" y="1700784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30C22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2536" y="1700784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状态服务API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34740" y="1700784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30C22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1316" y="1700784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通知调度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0" y="1700784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30C22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1700784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响应策略调节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72300" y="1700784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30C22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8876" y="1700784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联邦学习更新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28600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0C142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2615184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状态推断层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65960" y="23591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输入：行为特征向量 → 输出：状态+证据+置信度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65960" y="2596896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422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02536" y="2596896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规则推断引擎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34740" y="2596896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422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1316" y="2596896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时序分类模型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03520" y="2596896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422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0096" y="2596896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LLM证据生成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72300" y="2596896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422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8876" y="2596896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置信度+个性化校准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182112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182112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25526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" y="3511296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特征工程层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65960" y="3255264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输入：原始事件流 → 输出：行为特征向量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965960" y="3493008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A1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02536" y="3493008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会话切分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34740" y="3493008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A1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1316" y="3493008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个体基线建模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303520" y="3493008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A1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0096" y="3493008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变点检测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72300" y="3493008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0C1A1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08876" y="3493008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多模态特征融合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4078224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4078224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14100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415137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" y="440740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信号采集层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965960" y="415137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输入：系统级公开信号 → 输出：原始事件流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965960" y="4389120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4100A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02536" y="4389120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应用使用事件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34740" y="4389120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4100A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71316" y="4389120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通知交互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303520" y="4389120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4100A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0096" y="4389120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击键动态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72300" y="4389120"/>
            <a:ext cx="1577340" cy="347472"/>
          </a:xfrm>
          <a:prstGeom prst="roundRect">
            <a:avLst>
              <a:gd name="adj" fmla="val 10526"/>
            </a:avLst>
          </a:prstGeom>
          <a:solidFill>
            <a:srgbClr val="14100A"/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08876" y="4389120"/>
            <a:ext cx="15041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活动+语义位置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43000" y="2139696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9848" y="214884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143000" y="3035808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9848" y="304495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43000" y="3931920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69848" y="394106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30352" y="4928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依赖方向 ▲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技术地图 · PART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情感AI的SOTA演进：发生了什么变化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逐维度对比 传统范式 → 多模态大模型时代（2024–2026）· 数据出处见备注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24028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传统范式 (Pre-2023)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63440" y="1417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多模态大模型 (2024–26) 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99516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变化幅度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0"/>
          </a:xfrm>
          <a:prstGeom prst="line">
            <a:avLst/>
          </a:prstGeom>
          <a:noFill/>
          <a:ln w="12700">
            <a:solidFill>
              <a:srgbClr val="1A1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情绪类别数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40280" y="17922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固定6类（Ekman基本情绪）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17922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开放词汇，2000+细粒度类别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95160" y="17922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2000+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0B0E14"/>
          </a:solidFill>
          <a:ln w="12700">
            <a:solidFill>
              <a:srgbClr val="0B0E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76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标注形式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40280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单标签离散分类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1762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多标签+自然语言描述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95160" y="2176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单标签 → 2-4标签/样本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2560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输出方式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25603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分类概率（黑盒）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判定+thinking证据链（可解释）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99516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 → 结果+推理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solidFill>
            <a:srgbClr val="0B0E14"/>
          </a:solidFill>
          <a:ln w="12700">
            <a:solidFill>
              <a:srgbClr val="0B0E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944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数据集规模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40280" y="29443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千级样本（IEMOCAP等）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29443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MER-Caption 115K样本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95160" y="2944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~10³ → 10⁵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3284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建模目标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40280" y="33284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拟合固定标签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3328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开放情绪理解+情绪轮度量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95160" y="33284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 → 开放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730752"/>
            <a:ext cx="8229600" cy="365760"/>
          </a:xfrm>
          <a:prstGeom prst="rect">
            <a:avLst/>
          </a:prstGeom>
          <a:solidFill>
            <a:srgbClr val="0B0E14"/>
          </a:solidFill>
          <a:ln w="12700">
            <a:solidFill>
              <a:srgbClr val="0B0E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7124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评测指标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40280" y="37124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分类准确率/F1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37124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开放词汇相似度+推理质量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95160" y="37124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 → 多维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40965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性能进步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24028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各基准饱和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3440" y="4096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AffectGPT较现有MLLM +9%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95160" y="4096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(同任务)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68172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0C1422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4360" y="46817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对OS的启示：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变化的本质是从「输出一个标签」到「输出可解释、可校准的状态」——这正是OS状态服务层需要的能力形态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4200"/>
            </a:avLst>
          </a:prstGeom>
          <a:solidFill>
            <a:srgbClr val="05070D"/>
          </a:solidFill>
          <a:ln w="12700">
            <a:solidFill>
              <a:srgbClr val="05070D"/>
            </a:solidFill>
          </a:ln>
        </p:spPr>
      </p:sp>
      <p:sp>
        <p:nvSpPr>
          <p:cNvPr id="3" name="Section"/>
          <p:cNvSpPr/>
          <p:nvPr/>
        </p:nvSpPr>
        <p:spPr>
          <a:xfrm>
            <a:off x="457200" y="247650"/>
            <a:ext cx="800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900" b="1" dirty="0">
                <a:solidFill>
                  <a:srgbClr val="4ADE80"/>
                </a:solidFill>
                <a:latin typeface="Arial"/>
                <a:ea typeface="Arial"/>
                <a:cs typeface="Arial"/>
              </a:rPr>
              <a:t>竞品分析 · 情感计算地图（OS厂商视角）</a:t>
            </a:r>
            <a:endParaRPr lang="zh-CN" sz="900" dirty="0"/>
          </a:p>
        </p:txBody>
      </p:sp>
      <p:sp>
        <p:nvSpPr>
          <p:cNvPr id="4" name="Title"/>
          <p:cNvSpPr/>
          <p:nvPr/>
        </p:nvSpPr>
        <p:spPr>
          <a:xfrm>
            <a:off x="457200" y="619125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竞品路线 1：语音情感 vs 健康心境</a:t>
            </a:r>
            <a:endParaRPr lang="zh-CN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133475"/>
            <a:ext cx="800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Google把情感计算放进AI语音交互；Apple把它放进健康、隐私和主动记录。</a:t>
            </a:r>
            <a:endParaRPr lang="zh-CN" sz="1400" dirty="0"/>
          </a:p>
        </p:txBody>
      </p:sp>
      <p:sp>
        <p:nvSpPr>
          <p:cNvPr id="10" name="Google / Android card"/>
          <p:cNvSpPr/>
          <p:nvPr/>
        </p:nvSpPr>
        <p:spPr>
          <a:xfrm>
            <a:off x="457200" y="1466850"/>
            <a:ext cx="3905250" cy="2857500"/>
          </a:xfrm>
          <a:prstGeom prst="roundRect">
            <a:avLst>
              <a:gd name="adj" fmla="val 4200"/>
            </a:avLst>
          </a:prstGeom>
          <a:solidFill>
            <a:srgbClr val="0D1017"/>
          </a:solidFill>
          <a:ln w="12700">
            <a:solidFill>
              <a:srgbClr val="4ADE80"/>
            </a:solidFill>
          </a:ln>
        </p:spPr>
      </p:sp>
      <p:sp>
        <p:nvSpPr>
          <p:cNvPr id="11" name="Google / Android header"/>
          <p:cNvSpPr/>
          <p:nvPr/>
        </p:nvSpPr>
        <p:spPr>
          <a:xfrm>
            <a:off x="457200" y="1466850"/>
            <a:ext cx="3905250" cy="342900"/>
          </a:xfrm>
          <a:prstGeom prst="roundRect">
            <a:avLst>
              <a:gd name="adj" fmla="val 4200"/>
            </a:avLst>
          </a:prstGeom>
          <a:solidFill>
            <a:srgbClr val="0B1210"/>
          </a:solidFill>
          <a:ln w="12700">
            <a:solidFill>
              <a:srgbClr val="4ADE80"/>
            </a:solidFill>
          </a:ln>
        </p:spPr>
      </p:sp>
      <p:sp>
        <p:nvSpPr>
          <p:cNvPr id="12" name="Google / Android title"/>
          <p:cNvSpPr/>
          <p:nvPr/>
        </p:nvSpPr>
        <p:spPr>
          <a:xfrm>
            <a:off x="609600" y="1543050"/>
            <a:ext cx="3600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500" b="1" dirty="0">
                <a:solidFill>
                  <a:srgbClr val="4ADE80"/>
                </a:solidFill>
                <a:latin typeface="Arial"/>
                <a:ea typeface="Arial"/>
                <a:cs typeface="Arial"/>
              </a:rPr>
              <a:t>Google / Android</a:t>
            </a:r>
            <a:endParaRPr lang="zh-CN" sz="1500" dirty="0"/>
          </a:p>
        </p:txBody>
      </p:sp>
      <p:sp>
        <p:nvSpPr>
          <p:cNvPr id="13" name="Google / Android tag"/>
          <p:cNvSpPr/>
          <p:nvPr/>
        </p:nvSpPr>
        <p:spPr>
          <a:xfrm>
            <a:off x="609600" y="1885950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95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Gemini · Hume EVI(2026收购) · Siri智能层</a:t>
            </a:r>
            <a:endParaRPr lang="zh-CN" sz="950" dirty="0"/>
          </a:p>
        </p:txBody>
      </p:sp>
      <p:sp>
        <p:nvSpPr>
          <p:cNvPr id="14" name="Google / Android subtitle"/>
          <p:cNvSpPr/>
          <p:nvPr/>
        </p:nvSpPr>
        <p:spPr>
          <a:xfrm>
            <a:off x="609600" y="21336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1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路线：文本+语音LLM分析情感，服务实时对话</a:t>
            </a:r>
            <a:endParaRPr lang="zh-CN" sz="1150" dirty="0"/>
          </a:p>
        </p:txBody>
      </p:sp>
      <p:sp>
        <p:nvSpPr>
          <p:cNvPr id="15" name="Google / Android 信号"/>
          <p:cNvSpPr/>
          <p:nvPr/>
        </p:nvSpPr>
        <p:spPr>
          <a:xfrm>
            <a:off x="609600" y="25336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4ADE80"/>
                </a:solidFill>
                <a:latin typeface="Arial"/>
                <a:ea typeface="Arial"/>
                <a:cs typeface="Arial"/>
              </a:rPr>
              <a:t>信号</a:t>
            </a:r>
            <a:endParaRPr lang="zh-CN" sz="1050" dirty="0"/>
          </a:p>
        </p:txBody>
      </p:sp>
      <p:sp>
        <p:nvSpPr>
          <p:cNvPr id="16" name="Google / Android ASR文本、prosody韵律、轮次停顿、Android行为入口"/>
          <p:cNvSpPr/>
          <p:nvPr/>
        </p:nvSpPr>
        <p:spPr>
          <a:xfrm>
            <a:off x="1371600" y="25336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ASR文本、prosody韵律、轮次停顿、Android行为入口</a:t>
            </a:r>
            <a:endParaRPr lang="zh-CN" sz="1080" dirty="0"/>
          </a:p>
        </p:txBody>
      </p:sp>
      <p:sp>
        <p:nvSpPr>
          <p:cNvPr id="17" name="Google / Android 能力"/>
          <p:cNvSpPr/>
          <p:nvPr/>
        </p:nvSpPr>
        <p:spPr>
          <a:xfrm>
            <a:off x="609600" y="304800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4ADE80"/>
                </a:solidFill>
                <a:latin typeface="Arial"/>
                <a:ea typeface="Arial"/>
                <a:cs typeface="Arial"/>
              </a:rPr>
              <a:t>能力</a:t>
            </a:r>
            <a:endParaRPr lang="zh-CN" sz="1050" dirty="0"/>
          </a:p>
        </p:txBody>
      </p:sp>
      <p:sp>
        <p:nvSpPr>
          <p:cNvPr id="18" name="Google / Android Hume补“怎么说”；Gemini补“说了什么”和回复策略"/>
          <p:cNvSpPr/>
          <p:nvPr/>
        </p:nvSpPr>
        <p:spPr>
          <a:xfrm>
            <a:off x="1371600" y="304800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Hume补“怎么说”；Gemini补“说了什么”和回复策略</a:t>
            </a:r>
            <a:endParaRPr lang="zh-CN" sz="1080" dirty="0"/>
          </a:p>
        </p:txBody>
      </p:sp>
      <p:sp>
        <p:nvSpPr>
          <p:cNvPr id="19" name="Google / Android 洞察"/>
          <p:cNvSpPr/>
          <p:nvPr/>
        </p:nvSpPr>
        <p:spPr>
          <a:xfrm>
            <a:off x="609600" y="35623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4ADE80"/>
                </a:solidFill>
                <a:latin typeface="Arial"/>
                <a:ea typeface="Arial"/>
                <a:cs typeface="Arial"/>
              </a:rPr>
              <a:t>洞察</a:t>
            </a:r>
            <a:endParaRPr lang="zh-CN" sz="1050" dirty="0"/>
          </a:p>
        </p:txBody>
      </p:sp>
      <p:sp>
        <p:nvSpPr>
          <p:cNvPr id="20" name="Google / Android 2026收Hume团队入DeepMind+拿下Siri智能层；强在情感语音，弱在长期OS状态"/>
          <p:cNvSpPr/>
          <p:nvPr/>
        </p:nvSpPr>
        <p:spPr>
          <a:xfrm>
            <a:off x="1371600" y="35623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2026收Hume团队入DeepMind+拿下Siri智能层；强在情感语音，弱在长期OS状态</a:t>
            </a:r>
            <a:endParaRPr lang="zh-CN" sz="1080" dirty="0"/>
          </a:p>
        </p:txBody>
      </p:sp>
      <p:sp>
        <p:nvSpPr>
          <p:cNvPr id="21" name="Apple / iOS card"/>
          <p:cNvSpPr/>
          <p:nvPr/>
        </p:nvSpPr>
        <p:spPr>
          <a:xfrm>
            <a:off x="4781550" y="1466850"/>
            <a:ext cx="3905250" cy="2857500"/>
          </a:xfrm>
          <a:prstGeom prst="roundRect">
            <a:avLst>
              <a:gd name="adj" fmla="val 4200"/>
            </a:avLst>
          </a:prstGeom>
          <a:solidFill>
            <a:srgbClr val="0D1017"/>
          </a:solidFill>
          <a:ln w="12700">
            <a:solidFill>
              <a:srgbClr val="60A5FA"/>
            </a:solidFill>
          </a:ln>
        </p:spPr>
      </p:sp>
      <p:sp>
        <p:nvSpPr>
          <p:cNvPr id="22" name="Apple / iOS header"/>
          <p:cNvSpPr/>
          <p:nvPr/>
        </p:nvSpPr>
        <p:spPr>
          <a:xfrm>
            <a:off x="4781550" y="1466850"/>
            <a:ext cx="3905250" cy="342900"/>
          </a:xfrm>
          <a:prstGeom prst="roundRect">
            <a:avLst>
              <a:gd name="adj" fmla="val 4200"/>
            </a:avLst>
          </a:prstGeom>
          <a:solidFill>
            <a:srgbClr val="0B1210"/>
          </a:solidFill>
          <a:ln w="12700">
            <a:solidFill>
              <a:srgbClr val="60A5FA"/>
            </a:solidFill>
          </a:ln>
        </p:spPr>
      </p:sp>
      <p:sp>
        <p:nvSpPr>
          <p:cNvPr id="23" name="Apple / iOS title"/>
          <p:cNvSpPr/>
          <p:nvPr/>
        </p:nvSpPr>
        <p:spPr>
          <a:xfrm>
            <a:off x="4933950" y="1543050"/>
            <a:ext cx="3600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500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Apple / iOS</a:t>
            </a:r>
            <a:endParaRPr lang="zh-CN" sz="1500" dirty="0"/>
          </a:p>
        </p:txBody>
      </p:sp>
      <p:sp>
        <p:nvSpPr>
          <p:cNvPr id="24" name="Apple / iOS tag"/>
          <p:cNvSpPr/>
          <p:nvPr/>
        </p:nvSpPr>
        <p:spPr>
          <a:xfrm>
            <a:off x="4933950" y="1885950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95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State of Mind · Siri AI(2026,Gemini) · Watch</a:t>
            </a:r>
            <a:endParaRPr lang="zh-CN" sz="950" dirty="0"/>
          </a:p>
        </p:txBody>
      </p:sp>
      <p:sp>
        <p:nvSpPr>
          <p:cNvPr id="25" name="Apple / iOS subtitle"/>
          <p:cNvSpPr/>
          <p:nvPr/>
        </p:nvSpPr>
        <p:spPr>
          <a:xfrm>
            <a:off x="4933950" y="21336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1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路线：健康/隐私框架下的主动心境记录</a:t>
            </a:r>
            <a:endParaRPr lang="zh-CN" sz="1150" dirty="0"/>
          </a:p>
        </p:txBody>
      </p:sp>
      <p:sp>
        <p:nvSpPr>
          <p:cNvPr id="26" name="Apple / iOS 信号"/>
          <p:cNvSpPr/>
          <p:nvPr/>
        </p:nvSpPr>
        <p:spPr>
          <a:xfrm>
            <a:off x="4933950" y="25336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信号</a:t>
            </a:r>
            <a:endParaRPr lang="zh-CN" sz="1050" dirty="0"/>
          </a:p>
        </p:txBody>
      </p:sp>
      <p:sp>
        <p:nvSpPr>
          <p:cNvPr id="27" name="Apple / iOS 主动情绪日志、Watch生理、睡眠/运动/日照；Siri AI跨App上下文"/>
          <p:cNvSpPr/>
          <p:nvPr/>
        </p:nvSpPr>
        <p:spPr>
          <a:xfrm>
            <a:off x="5695950" y="25336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主动情绪日志、Watch生理、睡眠/运动/日照；Siri AI跨App上下文</a:t>
            </a:r>
            <a:endParaRPr lang="zh-CN" sz="1080" dirty="0"/>
          </a:p>
        </p:txBody>
      </p:sp>
      <p:sp>
        <p:nvSpPr>
          <p:cNvPr id="28" name="Apple / iOS 能力"/>
          <p:cNvSpPr/>
          <p:nvPr/>
        </p:nvSpPr>
        <p:spPr>
          <a:xfrm>
            <a:off x="4933950" y="304800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能力</a:t>
            </a:r>
            <a:endParaRPr lang="zh-CN" sz="1050" dirty="0"/>
          </a:p>
        </p:txBody>
      </p:sp>
      <p:sp>
        <p:nvSpPr>
          <p:cNvPr id="29" name="Apple / iOS 把心境和生活方式因素关联，强调端侧隐私和健康解释"/>
          <p:cNvSpPr/>
          <p:nvPr/>
        </p:nvSpPr>
        <p:spPr>
          <a:xfrm>
            <a:off x="5695950" y="304800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把心境和生活方式因素关联，强调端侧隐私和健康解释</a:t>
            </a:r>
            <a:endParaRPr lang="zh-CN" sz="1080" dirty="0"/>
          </a:p>
        </p:txBody>
      </p:sp>
      <p:sp>
        <p:nvSpPr>
          <p:cNvPr id="30" name="Apple / iOS 洞察"/>
          <p:cNvSpPr/>
          <p:nvPr/>
        </p:nvSpPr>
        <p:spPr>
          <a:xfrm>
            <a:off x="4933950" y="35623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洞察</a:t>
            </a:r>
            <a:endParaRPr lang="zh-CN" sz="1050" dirty="0"/>
          </a:p>
        </p:txBody>
      </p:sp>
      <p:sp>
        <p:nvSpPr>
          <p:cNvPr id="31" name="Apple / iOS Siri AI已发布(2026.6)但其上下文=任务非情感；强健康闭环，弱被动张力推断"/>
          <p:cNvSpPr/>
          <p:nvPr/>
        </p:nvSpPr>
        <p:spPr>
          <a:xfrm>
            <a:off x="5695950" y="35623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Siri AI已发布(2026.6)但其上下文=任务非情感；强健康闭环，弱被动张力推断</a:t>
            </a:r>
            <a:endParaRPr lang="zh-CN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 · 商业落地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情感AI的商业落地现状（2026）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哪些真正落地了，效果如何，用户感知到了什么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029968" cy="987552"/>
          </a:xfrm>
          <a:prstGeom prst="rect">
            <a:avLst>
              <a:gd name="adj" fmla="val 740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商业落地主线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87752" y="1389888"/>
            <a:ext cx="2029968" cy="987552"/>
          </a:xfrm>
          <a:prstGeom prst="rect">
            <a:avLst>
              <a:gd name="adj" fmla="val 740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14630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端侧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87752" y="19202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隐私优先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64024" y="1389888"/>
            <a:ext cx="2029968" cy="987552"/>
          </a:xfrm>
          <a:prstGeom prst="rect">
            <a:avLst>
              <a:gd name="adj" fmla="val 740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64024" y="14630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健康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64024" y="19202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可穿戴/恢复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0296" y="1389888"/>
            <a:ext cx="2029968" cy="987552"/>
          </a:xfrm>
          <a:prstGeom prst="rect">
            <a:avLst>
              <a:gd name="adj" fmla="val 740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0296" y="14630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0296" y="192024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跨App闭环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2724912" cy="2267712"/>
          </a:xfrm>
          <a:prstGeom prst="rect">
            <a:avLst>
              <a:gd name="adj" fmla="val 3226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542032"/>
            <a:ext cx="2724912" cy="347472"/>
          </a:xfrm>
          <a:prstGeom prst="roundRect">
            <a:avLst>
              <a:gd name="adj" fmla="val 18421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5420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真正商业落地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" y="29626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Health情绪日志（iOS17+）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健康/恢复类场景已经规模化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" y="34198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Galaxy AI Energy Score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依托手表/戒指/手机形成设备生态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" y="38770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 AI EVI API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语音情感API面向客服/教育/陪伴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" y="43342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小米超级小爱(接DeepSeek)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2025.8活跃率37.7%居厂商助手首位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4408" y="2542032"/>
            <a:ext cx="2724912" cy="2267712"/>
          </a:xfrm>
          <a:prstGeom prst="rect">
            <a:avLst>
              <a:gd name="adj" fmla="val 3226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2542032"/>
            <a:ext cx="2724912" cy="347472"/>
          </a:xfrm>
          <a:prstGeom prst="roundRect">
            <a:avLst>
              <a:gd name="adj" fmla="val 18421"/>
            </a:avLst>
          </a:prstGeom>
          <a:solidFill>
            <a:srgbClr val="14100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25420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营销大于技术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74136" y="29626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vivo情感层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单点功能多，连续状态层不足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74136" y="34198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各厂AI助手"情感理解"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如小爱情感陪伴，靠LLM语气推断缺行为证据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74136" y="38770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"情绪化"通知策略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规则触发仍多，实时自适应较少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74136" y="43342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健康App情绪追踪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主动日志有价值，但难覆盖日常波动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17336" y="2542032"/>
            <a:ext cx="2724912" cy="2267712"/>
          </a:xfrm>
          <a:prstGeom prst="rect">
            <a:avLst>
              <a:gd name="adj" fmla="val 3226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17336" y="2542032"/>
            <a:ext cx="2724912" cy="347472"/>
          </a:xfrm>
          <a:prstGeom prst="roundRect">
            <a:avLst>
              <a:gd name="adj" fmla="val 18421"/>
            </a:avLst>
          </a:prstGeom>
          <a:solidFill>
            <a:srgbClr val="0C142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25420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研究→产品的缺口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27064" y="29626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手机被动行为感知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SOTA强在基准，产品更缺闭环反馈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27064" y="34198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跨App行为聚合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隐私、权限、端侧计算是落地前提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27064" y="38770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情绪状态驱动Agent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OS需要统一状态服务而非散点能力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27064" y="433425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个体基准自适应模型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机会在“行为证据→状态→响应”的链路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OS视角 · 核心洞察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OS层的不可替代性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跨App信号聚合是系统层独有能力——任何单一App都做不到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983480" cy="3310128"/>
          </a:xfrm>
          <a:prstGeom prst="rect">
            <a:avLst>
              <a:gd name="adj" fmla="val 2210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能力维度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6596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单体App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1188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OS平台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663440" cy="0"/>
          </a:xfrm>
          <a:prstGeom prst="line">
            <a:avLst/>
          </a:prstGeom>
          <a:noFill/>
          <a:ln w="12700">
            <a:solidFill>
              <a:srgbClr val="1A1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信号视野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1920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单个App内部行为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9202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跨所有App聚合行为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个体基准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245059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需要用户主动配置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245059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自动积累14天滑动基准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9809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状态持久化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9809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App关闭即失去状态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298094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后台持续维护用户状态模型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5112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系统响应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51129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只能控制自身UI行为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11880" y="351129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协调通知/输入法/助手/相机联动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0416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隐私边界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4041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用户授权单个App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4041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统一权限模型，数据本地加密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417320"/>
            <a:ext cx="3108960" cy="3310128"/>
          </a:xfrm>
          <a:prstGeom prst="rect">
            <a:avLst>
              <a:gd name="adj" fmla="val 2353"/>
            </a:avLst>
          </a:prstGeom>
          <a:solidFill>
            <a:srgbClr val="111520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6072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UTM Platform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用户张力模型平台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2176272"/>
            <a:ext cx="2724912" cy="548640"/>
          </a:xfrm>
          <a:prstGeom prst="rect">
            <a:avLst>
              <a:gd name="adj" fmla="val 13333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2176272"/>
            <a:ext cx="731520" cy="548640"/>
          </a:xfrm>
          <a:prstGeom prst="roundRect">
            <a:avLst>
              <a:gd name="adj" fmla="val 8333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1762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2304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开放探索性服务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2816352"/>
            <a:ext cx="2724912" cy="548640"/>
          </a:xfrm>
          <a:prstGeom prst="rect">
            <a:avLst>
              <a:gd name="adj" fmla="val 13333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2816352"/>
            <a:ext cx="731520" cy="548640"/>
          </a:xfrm>
          <a:prstGeom prst="roundRect">
            <a:avLst>
              <a:gd name="adj" fmla="val 8333"/>
            </a:avLst>
          </a:prstGeom>
          <a:solidFill>
            <a:srgbClr val="0C1A1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8163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37960" y="2944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抑制打扰 高效服务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3456432"/>
            <a:ext cx="2724912" cy="548640"/>
          </a:xfrm>
          <a:prstGeom prst="rect">
            <a:avLst>
              <a:gd name="adj" fmla="val 13333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0" y="3456432"/>
            <a:ext cx="731520" cy="548640"/>
          </a:xfrm>
          <a:prstGeom prst="roundRect">
            <a:avLst>
              <a:gd name="adj" fmla="val 8333"/>
            </a:avLst>
          </a:prstGeom>
          <a:solidFill>
            <a:srgbClr val="0C1A1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34564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37960" y="3584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降噪 简化 安抚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4096512"/>
            <a:ext cx="2724912" cy="548640"/>
          </a:xfrm>
          <a:prstGeom prst="rect">
            <a:avLst>
              <a:gd name="adj" fmla="val 13333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60720" y="4096512"/>
            <a:ext cx="731520" cy="548640"/>
          </a:xfrm>
          <a:prstGeom prst="roundRect">
            <a:avLst>
              <a:gd name="adj" fmla="val 8333"/>
            </a:avLst>
          </a:prstGeom>
          <a:solidFill>
            <a:srgbClr val="0C1A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40965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37960" y="4224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关怀 提示 休息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663440"/>
            <a:ext cx="8321040" cy="347472"/>
          </a:xfrm>
          <a:prstGeom prst="rect">
            <a:avLst>
              <a:gd name="adj" fmla="val 21053"/>
            </a:avLst>
          </a:prstGeom>
          <a:solidFill>
            <a:srgbClr val="0C1A10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OS情感感知 ≠ 情绪识别  ·  而是让系统在合适时机，以合适方式，提供合适强度的服务——这是"节奏感知"而非"情绪监控"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落地方案 · 系统应用集成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UTM Platform 系统应用集成矩阵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所有系统应用共享同一状态模型，一致响应用户节奏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" y="141732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系统应用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93392" y="141732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21024" y="14173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175504" y="14173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93992" y="141732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700784"/>
            <a:ext cx="8321040" cy="0"/>
          </a:xfrm>
          <a:prstGeom prst="line">
            <a:avLst/>
          </a:prstGeom>
          <a:noFill/>
          <a:ln w="12700">
            <a:solidFill>
              <a:srgbClr val="1A1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810512"/>
            <a:ext cx="8321040" cy="420624"/>
          </a:xfrm>
          <a:prstGeom prst="rect">
            <a:avLst/>
          </a:prstGeom>
          <a:solidFill>
            <a:srgbClr val="0D1017"/>
          </a:solidFill>
          <a:ln w="12700">
            <a:solidFill>
              <a:srgbClr val="0A0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856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[CAM]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78408" y="178308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相机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93392" y="17830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探索性构图推荐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21024" y="17830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实时场景匹配优化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75504" y="17830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静默 极简引导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3992" y="178308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提示保存整理·关怀语气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267712"/>
            <a:ext cx="8321040" cy="420624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[NTF]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78408" y="224028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93392" y="22402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正常推送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21024" y="22402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仅高优打断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75504" y="22402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折叠低优 隐藏角标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93992" y="224028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DND 晨间汇总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724912"/>
            <a:ext cx="8321040" cy="420624"/>
          </a:xfrm>
          <a:prstGeom prst="rect">
            <a:avLst/>
          </a:prstGeom>
          <a:solidFill>
            <a:srgbClr val="0D1017"/>
          </a:solidFill>
          <a:ln w="12700">
            <a:solidFill>
              <a:srgbClr val="0A0D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2770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[IME]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78408" y="269748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93392" y="26974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21024" y="26974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75504" y="26974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扩大候选词区 降低纠错激进度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93992" y="269748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182112"/>
            <a:ext cx="8321040" cy="420624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227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[AI]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78408" y="315468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系统助手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993392" y="31546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主动推荐 详细回应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21024" y="31546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精准响应 减少主动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75504" y="31546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简洁温和 降认知负荷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93992" y="315468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关怀语气 减少打扰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3639312"/>
            <a:ext cx="8321040" cy="420624"/>
          </a:xfrm>
          <a:prstGeom prst="rect">
            <a:avLst/>
          </a:prstGeom>
          <a:solidFill>
            <a:srgbClr val="0D1017"/>
          </a:solidFill>
          <a:ln w="12700">
            <a:solidFill>
              <a:srgbClr val="0A0D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3685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[MUS]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78408" y="361188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音乐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993392" y="36118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正常推荐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21024" y="3611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背景音/白噪音加权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75504" y="36118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轻音乐优先推荐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93992" y="361188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睡眠音乐 降音量上限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4096512"/>
            <a:ext cx="8321040" cy="420624"/>
          </a:xfrm>
          <a:prstGeom prst="rect">
            <a:avLst/>
          </a:prstGeom>
          <a:solidFill>
            <a:srgbClr val="0A0D12"/>
          </a:solidFill>
          <a:ln w="12700">
            <a:solidFill>
              <a:srgbClr val="0A0D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4142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[CAL]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78408" y="406908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日历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993392" y="40690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正常提醒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21024" y="40690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正常提醒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75504" y="406908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非紧急提醒延后30min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93992" y="406908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询问推迟次日事项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4663440"/>
            <a:ext cx="8321040" cy="347472"/>
          </a:xfrm>
          <a:prstGeom prst="rect">
            <a:avLst>
              <a:gd name="adj" fmla="val 21053"/>
            </a:avLst>
          </a:prstGeom>
          <a:solidFill>
            <a:srgbClr val="130C22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9436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每个系统应用通过 UTMClient.getSnapshot() 获取当前状态，无需了解底层信号逻辑；行为反馈通过 sendFeedback() 回流，持续优化基准模型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落地评估 · 路线图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可行性分析与建设路线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核心信号零成本，Demo 4周可完成，平台化6–12个月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084832" cy="960120"/>
          </a:xfrm>
          <a:prstGeom prst="rect">
            <a:avLst>
              <a:gd name="adj" fmla="val 7619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90472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零成本核心信号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24328" y="1417320"/>
            <a:ext cx="2084832" cy="960120"/>
          </a:xfrm>
          <a:prstGeom prst="rect">
            <a:avLst>
              <a:gd name="adj" fmla="val 7619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1490472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14天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15768" y="19659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个体基准建立周期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96312"/>
            <a:ext cx="2084832" cy="960120"/>
          </a:xfrm>
          <a:prstGeom prst="rect">
            <a:avLst>
              <a:gd name="adj" fmla="val 7619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56946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2920" y="30449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CPU额外开销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24328" y="2496312"/>
            <a:ext cx="2084832" cy="960120"/>
          </a:xfrm>
          <a:prstGeom prst="rect">
            <a:avLst>
              <a:gd name="adj" fmla="val 7619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24328" y="2569464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4周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15768" y="30449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Demo可交付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3977640" cy="3310128"/>
          </a:xfrm>
          <a:prstGeom prst="rect">
            <a:avLst>
              <a:gd name="adj" fmla="val 2210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建设路线图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01952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94960" y="19202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创新大赛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21762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UTM状态 · 手动切换演示  ·  Camera Agent差异化行为接入  ·  通知降级演示闭环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615184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C1A1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15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94960" y="26334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真实信号接入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0" y="28895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4项信号探针 · 个体基准引擎  ·  状态机实现 · 本地加密存储  ·  内测验证 · 边界调参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328416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C1A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0" y="33467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平台开放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36027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8个系统应用完成集成  ·  Harness全局上下文注入  ·  FeedbackAggregator回路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4041648"/>
            <a:ext cx="475488" cy="475488"/>
          </a:xfrm>
          <a:prstGeom prst="roundRect">
            <a:avLst>
              <a:gd name="adj" fmla="val 9615"/>
            </a:avLst>
          </a:prstGeom>
          <a:solidFill>
            <a:srgbClr val="0C1A1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94960" y="40599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智能进化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94960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端侧轻量模型替代规则  ·  穿戴设备生理信号融合  ·  用户可见节奏面板（可选）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566160"/>
            <a:ext cx="4114800" cy="1115568"/>
          </a:xfrm>
          <a:prstGeom prst="rect">
            <a:avLst>
              <a:gd name="adj" fmla="val 6557"/>
            </a:avLst>
          </a:prstGeom>
          <a:solidFill>
            <a:srgbClr val="140A0A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主要风险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" y="3904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隐私感知：不说"情绪检测"，说"智能节奏感知"；数据全量本地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误判反直觉：保留紧急通知白名单 + 用户反馈修正机制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4360" y="4453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冷启动：前14天用人群聚类基准降级替代，逐步过渡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457200"/>
            <a:ext cx="4572000" cy="4572000"/>
          </a:xfrm>
          <a:prstGeom prst="ellipse">
            <a:avLst/>
          </a:prstGeom>
          <a:solidFill>
            <a:srgbClr val="0C1A10"/>
          </a:solidFill>
          <a:ln w="12700">
            <a:solidFill>
              <a:srgbClr val="1E3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三点核心洞察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78992"/>
          </a:xfrm>
          <a:prstGeom prst="rect">
            <a:avLst>
              <a:gd name="adj" fmla="val 6780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3441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情感计算的战场已转移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从固定情绪分类到多模态基础模型、开放词汇和时序状态推断；OS层的低敏感行为语义路线，是2026最具可行性的落地方向。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8321040" cy="1078992"/>
          </a:xfrm>
          <a:prstGeom prst="rect">
            <a:avLst>
              <a:gd name="adj" fmla="val 6780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560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0C1A1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32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竞品都在局部，机会在全局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Apple做健康/隐私，Google做Gemini与端侧AI，Samsung做可穿戴恢复，Hume做情感语音API；跨App行为聚合到系统响应的平台层仍是空白。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611880"/>
            <a:ext cx="8321040" cy="1078992"/>
          </a:xfrm>
          <a:prstGeom prst="rect">
            <a:avLst>
              <a:gd name="adj" fmla="val 6780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4904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0C1A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7216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UTM Platform：基础设施而非功能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0690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不是给相机加情绪按钮，而是让OS具备张力与节奏感知能力，作为Harness框架的系统级上下文，让系统应用共享可校准、可解释的用户状态模型。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63440"/>
            <a:ext cx="8321040" cy="347472"/>
          </a:xfrm>
          <a:prstGeom prst="rect">
            <a:avLst>
              <a:gd name="adj" fmla="val 21053"/>
            </a:avLst>
          </a:prstGeom>
          <a:solidFill>
            <a:srgbClr val="0C1A10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OS情感感知 ≠ 情绪监控  ·  = 节奏感知  ·  让系统在正确时机、以正确方式、提供正确强度的服务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4200"/>
            </a:avLst>
          </a:prstGeom>
          <a:solidFill>
            <a:srgbClr val="05070D"/>
          </a:solidFill>
          <a:ln w="12700">
            <a:solidFill>
              <a:srgbClr val="05070D"/>
            </a:solidFill>
          </a:ln>
        </p:spPr>
      </p:sp>
      <p:sp>
        <p:nvSpPr>
          <p:cNvPr id="3" name="Section"/>
          <p:cNvSpPr/>
          <p:nvPr/>
        </p:nvSpPr>
        <p:spPr>
          <a:xfrm>
            <a:off x="457200" y="247650"/>
            <a:ext cx="800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900" b="1" dirty="0">
                <a:solidFill>
                  <a:srgbClr val="4ADE80"/>
                </a:solidFill>
                <a:latin typeface="Arial"/>
                <a:ea typeface="Arial"/>
                <a:cs typeface="Arial"/>
              </a:rPr>
              <a:t>竞品分析 · 情感计算地图（OS厂商视角）</a:t>
            </a:r>
            <a:endParaRPr lang="zh-CN" sz="900" dirty="0"/>
          </a:p>
        </p:txBody>
      </p:sp>
      <p:sp>
        <p:nvSpPr>
          <p:cNvPr id="4" name="Title"/>
          <p:cNvSpPr/>
          <p:nvPr/>
        </p:nvSpPr>
        <p:spPr>
          <a:xfrm>
            <a:off x="457200" y="619125"/>
            <a:ext cx="800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280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竞品路线 2：生理恢复 vs 舒适体验</a:t>
            </a:r>
            <a:endParaRPr lang="zh-CN" sz="2800" dirty="0"/>
          </a:p>
        </p:txBody>
      </p:sp>
      <p:sp>
        <p:nvSpPr>
          <p:cNvPr id="5" name="Subtitle"/>
          <p:cNvSpPr/>
          <p:nvPr/>
        </p:nvSpPr>
        <p:spPr>
          <a:xfrm>
            <a:off x="457200" y="1133475"/>
            <a:ext cx="800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4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Samsung从传感器和健康恢复切入；vivo从体验舒适、人因和情感化设计切入。</a:t>
            </a:r>
            <a:endParaRPr lang="zh-CN" sz="1400" dirty="0"/>
          </a:p>
        </p:txBody>
      </p:sp>
      <p:sp>
        <p:nvSpPr>
          <p:cNvPr id="10" name="Samsung / One UI card"/>
          <p:cNvSpPr/>
          <p:nvPr/>
        </p:nvSpPr>
        <p:spPr>
          <a:xfrm>
            <a:off x="457200" y="1466850"/>
            <a:ext cx="3905250" cy="2857500"/>
          </a:xfrm>
          <a:prstGeom prst="roundRect">
            <a:avLst>
              <a:gd name="adj" fmla="val 4200"/>
            </a:avLst>
          </a:prstGeom>
          <a:solidFill>
            <a:srgbClr val="0D1017"/>
          </a:solidFill>
          <a:ln w="12700">
            <a:solidFill>
              <a:srgbClr val="C084FC"/>
            </a:solidFill>
          </a:ln>
        </p:spPr>
      </p:sp>
      <p:sp>
        <p:nvSpPr>
          <p:cNvPr id="11" name="Samsung / One UI header"/>
          <p:cNvSpPr/>
          <p:nvPr/>
        </p:nvSpPr>
        <p:spPr>
          <a:xfrm>
            <a:off x="457200" y="1466850"/>
            <a:ext cx="3905250" cy="342900"/>
          </a:xfrm>
          <a:prstGeom prst="roundRect">
            <a:avLst>
              <a:gd name="adj" fmla="val 4200"/>
            </a:avLst>
          </a:prstGeom>
          <a:solidFill>
            <a:srgbClr val="0B1210"/>
          </a:solidFill>
          <a:ln w="12700">
            <a:solidFill>
              <a:srgbClr val="C084FC"/>
            </a:solidFill>
          </a:ln>
        </p:spPr>
      </p:sp>
      <p:sp>
        <p:nvSpPr>
          <p:cNvPr id="12" name="Samsung / One UI title"/>
          <p:cNvSpPr/>
          <p:nvPr/>
        </p:nvSpPr>
        <p:spPr>
          <a:xfrm>
            <a:off x="609600" y="1543050"/>
            <a:ext cx="3600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500" b="1" dirty="0">
                <a:solidFill>
                  <a:srgbClr val="C084FC"/>
                </a:solidFill>
                <a:latin typeface="Arial"/>
                <a:ea typeface="Arial"/>
                <a:cs typeface="Arial"/>
              </a:rPr>
              <a:t>Samsung / One UI</a:t>
            </a:r>
            <a:endParaRPr lang="zh-CN" sz="1500" dirty="0"/>
          </a:p>
        </p:txBody>
      </p:sp>
      <p:sp>
        <p:nvSpPr>
          <p:cNvPr id="13" name="Samsung / One UI tag"/>
          <p:cNvSpPr/>
          <p:nvPr/>
        </p:nvSpPr>
        <p:spPr>
          <a:xfrm>
            <a:off x="609600" y="1885950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95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Galaxy AI · Watch/Ring · Energy Score</a:t>
            </a:r>
            <a:endParaRPr lang="zh-CN" sz="950" dirty="0"/>
          </a:p>
        </p:txBody>
      </p:sp>
      <p:sp>
        <p:nvSpPr>
          <p:cNvPr id="14" name="Samsung / One UI subtitle"/>
          <p:cNvSpPr/>
          <p:nvPr/>
        </p:nvSpPr>
        <p:spPr>
          <a:xfrm>
            <a:off x="609600" y="21336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1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路线：通过传感器和vitals分析用户恢复状态</a:t>
            </a:r>
            <a:endParaRPr lang="zh-CN" sz="1150" dirty="0"/>
          </a:p>
        </p:txBody>
      </p:sp>
      <p:sp>
        <p:nvSpPr>
          <p:cNvPr id="15" name="Samsung / One UI 信号"/>
          <p:cNvSpPr/>
          <p:nvPr/>
        </p:nvSpPr>
        <p:spPr>
          <a:xfrm>
            <a:off x="609600" y="25336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C084FC"/>
                </a:solidFill>
                <a:latin typeface="Arial"/>
                <a:ea typeface="Arial"/>
                <a:cs typeface="Arial"/>
              </a:rPr>
              <a:t>信号</a:t>
            </a:r>
            <a:endParaRPr lang="zh-CN" sz="1050" dirty="0"/>
          </a:p>
        </p:txBody>
      </p:sp>
      <p:sp>
        <p:nvSpPr>
          <p:cNvPr id="16" name="Samsung / One UI 睡眠、活动、睡眠心率、HRV、皮温等可穿戴数据"/>
          <p:cNvSpPr/>
          <p:nvPr/>
        </p:nvSpPr>
        <p:spPr>
          <a:xfrm>
            <a:off x="1371600" y="25336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睡眠、活动、睡眠心率、HRV、皮温等可穿戴数据</a:t>
            </a:r>
            <a:endParaRPr lang="zh-CN" sz="1080" dirty="0"/>
          </a:p>
        </p:txBody>
      </p:sp>
      <p:sp>
        <p:nvSpPr>
          <p:cNvPr id="17" name="Samsung / One UI 能力"/>
          <p:cNvSpPr/>
          <p:nvPr/>
        </p:nvSpPr>
        <p:spPr>
          <a:xfrm>
            <a:off x="609600" y="304800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C084FC"/>
                </a:solidFill>
                <a:latin typeface="Arial"/>
                <a:ea typeface="Arial"/>
                <a:cs typeface="Arial"/>
              </a:rPr>
              <a:t>能力</a:t>
            </a:r>
            <a:endParaRPr lang="zh-CN" sz="1050" dirty="0"/>
          </a:p>
        </p:txBody>
      </p:sp>
      <p:sp>
        <p:nvSpPr>
          <p:cNvPr id="18" name="Samsung / One UI 把身体疲劳/恢复量化，形成健康提醒和Energy Score"/>
          <p:cNvSpPr/>
          <p:nvPr/>
        </p:nvSpPr>
        <p:spPr>
          <a:xfrm>
            <a:off x="1371600" y="304800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把身体疲劳/恢复量化，形成健康提醒和Energy Score</a:t>
            </a:r>
            <a:endParaRPr lang="zh-CN" sz="1080" dirty="0"/>
          </a:p>
        </p:txBody>
      </p:sp>
      <p:sp>
        <p:nvSpPr>
          <p:cNvPr id="19" name="Samsung / One UI 洞察"/>
          <p:cNvSpPr/>
          <p:nvPr/>
        </p:nvSpPr>
        <p:spPr>
          <a:xfrm>
            <a:off x="609600" y="35623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C084FC"/>
                </a:solidFill>
                <a:latin typeface="Arial"/>
                <a:ea typeface="Arial"/>
                <a:cs typeface="Arial"/>
              </a:rPr>
              <a:t>洞察</a:t>
            </a:r>
            <a:endParaRPr lang="zh-CN" sz="1050" dirty="0"/>
          </a:p>
        </p:txBody>
      </p:sp>
      <p:sp>
        <p:nvSpPr>
          <p:cNvPr id="20" name="Samsung / One UI 强在生理恢复基线；弱在手机行为语义和OS策略层"/>
          <p:cNvSpPr/>
          <p:nvPr/>
        </p:nvSpPr>
        <p:spPr>
          <a:xfrm>
            <a:off x="1371600" y="35623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强在生理恢复基线；弱在手机行为语义和OS策略层</a:t>
            </a:r>
            <a:endParaRPr lang="zh-CN" sz="1080" dirty="0"/>
          </a:p>
        </p:txBody>
      </p:sp>
      <p:sp>
        <p:nvSpPr>
          <p:cNvPr id="21" name="vivo / OriginOS card"/>
          <p:cNvSpPr/>
          <p:nvPr/>
        </p:nvSpPr>
        <p:spPr>
          <a:xfrm>
            <a:off x="4781550" y="1466850"/>
            <a:ext cx="3905250" cy="2857500"/>
          </a:xfrm>
          <a:prstGeom prst="roundRect">
            <a:avLst>
              <a:gd name="adj" fmla="val 4200"/>
            </a:avLst>
          </a:prstGeom>
          <a:solidFill>
            <a:srgbClr val="0D1017"/>
          </a:solidFill>
          <a:ln w="12700">
            <a:solidFill>
              <a:srgbClr val="FB923C"/>
            </a:solidFill>
          </a:ln>
        </p:spPr>
      </p:sp>
      <p:sp>
        <p:nvSpPr>
          <p:cNvPr id="22" name="vivo / OriginOS header"/>
          <p:cNvSpPr/>
          <p:nvPr/>
        </p:nvSpPr>
        <p:spPr>
          <a:xfrm>
            <a:off x="4781550" y="1466850"/>
            <a:ext cx="3905250" cy="342900"/>
          </a:xfrm>
          <a:prstGeom prst="roundRect">
            <a:avLst>
              <a:gd name="adj" fmla="val 4200"/>
            </a:avLst>
          </a:prstGeom>
          <a:solidFill>
            <a:srgbClr val="0B1210"/>
          </a:solidFill>
          <a:ln w="12700">
            <a:solidFill>
              <a:srgbClr val="FB923C"/>
            </a:solidFill>
          </a:ln>
        </p:spPr>
      </p:sp>
      <p:sp>
        <p:nvSpPr>
          <p:cNvPr id="23" name="vivo / OriginOS title"/>
          <p:cNvSpPr/>
          <p:nvPr/>
        </p:nvSpPr>
        <p:spPr>
          <a:xfrm>
            <a:off x="4933950" y="1543050"/>
            <a:ext cx="3600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500" b="1" dirty="0">
                <a:solidFill>
                  <a:srgbClr val="FB923C"/>
                </a:solidFill>
                <a:latin typeface="Arial"/>
                <a:ea typeface="Arial"/>
                <a:cs typeface="Arial"/>
              </a:rPr>
              <a:t>vivo / OriginOS</a:t>
            </a:r>
            <a:endParaRPr lang="zh-CN" sz="1500" dirty="0"/>
          </a:p>
        </p:txBody>
      </p:sp>
      <p:sp>
        <p:nvSpPr>
          <p:cNvPr id="24" name="vivo / OriginOS tag"/>
          <p:cNvSpPr/>
          <p:nvPr/>
        </p:nvSpPr>
        <p:spPr>
          <a:xfrm>
            <a:off x="4933950" y="1885950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950" dirty="0">
                <a:solidFill>
                  <a:srgbClr val="475569"/>
                </a:solidFill>
                <a:latin typeface="Arial"/>
                <a:ea typeface="Arial"/>
                <a:cs typeface="Arial"/>
              </a:rPr>
              <a:t>舒适工程 · 蓝心 · 系统体验</a:t>
            </a:r>
            <a:endParaRPr lang="zh-CN" sz="950" dirty="0"/>
          </a:p>
        </p:txBody>
      </p:sp>
      <p:sp>
        <p:nvSpPr>
          <p:cNvPr id="25" name="vivo / OriginOS subtitle"/>
          <p:cNvSpPr/>
          <p:nvPr/>
        </p:nvSpPr>
        <p:spPr>
          <a:xfrm>
            <a:off x="4933950" y="2133600"/>
            <a:ext cx="360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1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路线：把情感落到视觉/动效/触感/阅读舒适</a:t>
            </a:r>
            <a:endParaRPr lang="zh-CN" sz="1150" dirty="0"/>
          </a:p>
        </p:txBody>
      </p:sp>
      <p:sp>
        <p:nvSpPr>
          <p:cNvPr id="26" name="vivo / OriginOS 信号"/>
          <p:cNvSpPr/>
          <p:nvPr/>
        </p:nvSpPr>
        <p:spPr>
          <a:xfrm>
            <a:off x="4933950" y="25336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FB923C"/>
                </a:solidFill>
                <a:latin typeface="Arial"/>
                <a:ea typeface="Arial"/>
                <a:cs typeface="Arial"/>
              </a:rPr>
              <a:t>信号</a:t>
            </a:r>
            <a:endParaRPr lang="zh-CN" sz="1050" dirty="0"/>
          </a:p>
        </p:txBody>
      </p:sp>
      <p:sp>
        <p:nvSpPr>
          <p:cNvPr id="27" name="vivo / OriginOS 空间系统、动态光效、渐变模糊、字体、自然动画"/>
          <p:cNvSpPr/>
          <p:nvPr/>
        </p:nvSpPr>
        <p:spPr>
          <a:xfrm>
            <a:off x="5695950" y="25336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空间系统、动态光效、渐变模糊、字体、自然动画</a:t>
            </a:r>
            <a:endParaRPr lang="zh-CN" sz="1080" dirty="0"/>
          </a:p>
        </p:txBody>
      </p:sp>
      <p:sp>
        <p:nvSpPr>
          <p:cNvPr id="28" name="vivo / OriginOS 能力"/>
          <p:cNvSpPr/>
          <p:nvPr/>
        </p:nvSpPr>
        <p:spPr>
          <a:xfrm>
            <a:off x="4933950" y="304800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FB923C"/>
                </a:solidFill>
                <a:latin typeface="Arial"/>
                <a:ea typeface="Arial"/>
                <a:cs typeface="Arial"/>
              </a:rPr>
              <a:t>能力</a:t>
            </a:r>
            <a:endParaRPr lang="zh-CN" sz="1050" dirty="0"/>
          </a:p>
        </p:txBody>
      </p:sp>
      <p:sp>
        <p:nvSpPr>
          <p:cNvPr id="29" name="vivo / OriginOS 降低视觉/触觉/认知负荷，形成“有温度”的体验风格"/>
          <p:cNvSpPr/>
          <p:nvPr/>
        </p:nvSpPr>
        <p:spPr>
          <a:xfrm>
            <a:off x="5695950" y="304800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降低视觉/触觉/认知负荷，形成“有温度”的体验风格</a:t>
            </a:r>
            <a:endParaRPr lang="zh-CN" sz="1080" dirty="0"/>
          </a:p>
        </p:txBody>
      </p:sp>
      <p:sp>
        <p:nvSpPr>
          <p:cNvPr id="30" name="vivo / OriginOS 洞察"/>
          <p:cNvSpPr/>
          <p:nvPr/>
        </p:nvSpPr>
        <p:spPr>
          <a:xfrm>
            <a:off x="4933950" y="356235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50" b="1" dirty="0">
                <a:solidFill>
                  <a:srgbClr val="FB923C"/>
                </a:solidFill>
                <a:latin typeface="Arial"/>
                <a:ea typeface="Arial"/>
                <a:cs typeface="Arial"/>
              </a:rPr>
              <a:t>洞察</a:t>
            </a:r>
            <a:endParaRPr lang="zh-CN" sz="1050" dirty="0"/>
          </a:p>
        </p:txBody>
      </p:sp>
      <p:sp>
        <p:nvSpPr>
          <p:cNvPr id="31" name="vivo / OriginOS 强在舒适体验工程；弱在被动状态推断和证据闭环"/>
          <p:cNvSpPr/>
          <p:nvPr/>
        </p:nvSpPr>
        <p:spPr>
          <a:xfrm>
            <a:off x="5695950" y="3562350"/>
            <a:ext cx="2800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sz="108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强在舒适体验工程；弱在被动状态推断和证据闭环</a:t>
            </a:r>
            <a:endParaRPr lang="zh-CN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 · 情感计算地图（OS厂商视角）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洞察：六家都在局部，空白在OS状态层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六家分别占据语音/健康/生理/编排/体验/陪伴；共同缺口是跨App行为状态服务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情感在对话层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29000" y="13716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文本+语音韵律+轮次判断让AI更会接话；2026收Hume+拿下Siri智能层，但缺长期OS状态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110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828800" y="19110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情感在健康层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191109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主动心境记录+Watch+量表；Siri AI已发布(2026.6,Gemini底层)但上下文=任务非情感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4505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Samsung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28800" y="24505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状态在生理层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45059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Vitals/Energy Score看疲劳与恢复，生理侧好补充，但缺手机行为语义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7200" y="299008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900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华为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828800" y="29900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能力在编排层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299008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HMAF跨App任务编排最强(Android/iOS无对等)，但是任务意图非情感状态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5295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828800" y="35295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情感在体验层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529584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舒适工程改善视觉/动效/触感/阅读，但还不是可共享的用户状态服务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069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小米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828800" y="40690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情感在陪伴层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40690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小爱情感语音陪伴(线上好友)+澎湃AI引擎分析行为做个性化，但无系统级情感状态层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57200" y="4626864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462686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UTM机会：</a:t>
            </a:r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不和六家抢单点能力，而是做「跨App行为节律 → 个人基线 → 张力/恢复状态 → 系统响应策略」的OS级状态层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 · 战略重点深度剖析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各家在押注什么：事实依据 → 护城河 → 结构性软肋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判断均基于厂商公开信息（官方文档/发布会/财经报道），出处见本页备注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66544" cy="3063240"/>
          </a:xfrm>
          <a:prstGeom prst="roundRect">
            <a:avLst>
              <a:gd name="adj" fmla="val 2655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066544" cy="475488"/>
          </a:xfrm>
          <a:prstGeom prst="roundRect">
            <a:avLst>
              <a:gd name="adj" fmla="val 11538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0876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173736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Gemini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20299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战略押注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66928" y="217627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押注语音情感交互层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事实依据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66928" y="26334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收Hume团队入DeepMind，把EVI情感语音能力并入Gemini；同期拿下Siri智能层多年合约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34015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护城河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" y="354787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C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情感韵律(prosody)实时识别+生成，规模化语音入口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3986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结构性软肋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" y="4133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9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情感停留在对话瞬间，缺乏跨App长期行为状态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15184" y="1463040"/>
            <a:ext cx="2066544" cy="3063240"/>
          </a:xfrm>
          <a:prstGeom prst="roundRect">
            <a:avLst>
              <a:gd name="adj" fmla="val 2655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15184" y="1463040"/>
            <a:ext cx="2066544" cy="475488"/>
          </a:xfrm>
          <a:prstGeom prst="roundRect">
            <a:avLst>
              <a:gd name="adj" fmla="val 11538"/>
            </a:avLst>
          </a:prstGeom>
          <a:solidFill>
            <a:srgbClr val="0C142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150876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24912" y="173736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· watchOS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24912" y="20299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战略押注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24912" y="217627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押注健康+隐私闭环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24912" y="24871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事实依据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24912" y="26334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Mind主动心境记录+PHQ-9/GAD-7临床量表；全程端侧处理；可关联睡眠/运动/日照等life factors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24912" y="34015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护城河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24912" y="354787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C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端侧隐私+健康可信度+Watch生理数据三位一体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24912" y="3986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结构性软肋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24912" y="4133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9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依赖用户主动记录，不做被动跨App日常张力推断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73168" y="1463040"/>
            <a:ext cx="2066544" cy="3063240"/>
          </a:xfrm>
          <a:prstGeom prst="roundRect">
            <a:avLst>
              <a:gd name="adj" fmla="val 2655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1463040"/>
            <a:ext cx="2066544" cy="475488"/>
          </a:xfrm>
          <a:prstGeom prst="roundRect">
            <a:avLst>
              <a:gd name="adj" fmla="val 11538"/>
            </a:avLst>
          </a:prstGeom>
          <a:solidFill>
            <a:srgbClr val="130C22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150876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Samsung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82896" y="173736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UI · Galaxy 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82896" y="20299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战略押注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82896" y="217627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押注生理恢复基线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82896" y="24871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事实依据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82896" y="26334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Score(0-100，基于睡眠/活动/睡眠心率/HRV)；Vitals分析5项夜间生理信号 vs 个人基线，仅显著偏离才通知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2896" y="34015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护城河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82896" y="354787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C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穿戴生理信号+个人基线偏离检测，避免警报疲劳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3986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结构性软肋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82896" y="4133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9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强在身体恢复，弱在手机行为语义与OS策略层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31152" y="1463040"/>
            <a:ext cx="2066544" cy="3063240"/>
          </a:xfrm>
          <a:prstGeom prst="roundRect">
            <a:avLst>
              <a:gd name="adj" fmla="val 2655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31152" y="1463040"/>
            <a:ext cx="2066544" cy="475488"/>
          </a:xfrm>
          <a:prstGeom prst="roundRect">
            <a:avLst>
              <a:gd name="adj" fmla="val 11538"/>
            </a:avLst>
          </a:prstGeom>
          <a:solidFill>
            <a:srgbClr val="14100A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150876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华为 / vivo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040880" y="1737360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HarmonyOS · OriginOS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40880" y="20299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战略押注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040880" y="2176272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押注Agent编排 / 体验舒适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40880" y="24871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事实依据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040880" y="26334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华为HMAF智能体框架可跨App编排(被指Android/iOS暂无对等能力)；vivo舒适工程把情感落到视觉/动效/触感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40880" y="340156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护城河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040880" y="3547872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C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华为=跨App任务编排；vivo=有温度的体验风格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40880" y="3986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结构性软肋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40880" y="4133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9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华为情感偏任务型、显式情感层弱；vivo是体验工程非状态服务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64515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94360" y="46451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共同结构性空白：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四条路线各有护城河，但无人占据「跨App行为语义 → 个人基线 → 张力/恢复状态 → 系统响应」的OS状态服务层——这是UTM的切入点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 · 架构覆盖对照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竞品在四层架构上覆盖了哪里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以P3四层为骨架 · ●有实质能力 ◐部分/弱 ○空白 · 关键区分：有平台能力 ≠ 用于情感推断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81328" y="101498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1017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17904" y="10149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17904" y="117957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语音路线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615184" y="101498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1017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0149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760" y="117957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健康路线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749040" y="101498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1017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85616" y="10149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85616" y="117957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生理路线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882896" y="101498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1017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10149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19472" y="117957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编排路线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016752" y="101498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D1017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53328" y="10149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3328" y="117957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体验路线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7150608" y="1014984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0A1A1F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87184" y="10149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87184" y="1179576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行为路线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48056" y="14173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14813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1719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响应执行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81328" y="1417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81328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9616" y="18013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Gemini对话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615184" y="1417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15184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33472" y="18013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健康App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749040" y="1417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49040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67328" y="18013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健康提醒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882896" y="1417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82896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01184" y="18013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HMAF编排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016752" y="1417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16752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35040" y="18013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动效/触感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150608" y="14173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150608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68896" y="18013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系统响应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48056" y="21031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21671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2404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状态推断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481328" y="21031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481328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99616" y="24871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声学prosody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615184" y="21031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615184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633472" y="24871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PHQ/GAD量表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749040" y="21031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749040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767328" y="24871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Score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882896" y="21031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882896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901184" y="24871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意图理解*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6016752" y="21031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016752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035040" y="24871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7150608" y="21031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150608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68896" y="24871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状态推断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448056" y="27889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02920" y="28529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02920" y="3090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特征工程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481328" y="2788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481328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499616" y="31729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Wellbeing聚合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2615184" y="2788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615184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633472" y="31729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factors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749040" y="2788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3749040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3767328" y="31729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Vitals基线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4882896" y="2788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882896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4901184" y="31729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6016752" y="2788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016752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035040" y="31729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7150608" y="2788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7150608" y="2834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168896" y="31729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个体基线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48056" y="34747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502920" y="35387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502920" y="3776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信号采集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481328" y="3474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1481328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499616" y="38587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UsageStats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2615184" y="3474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2615184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2633472" y="38587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主动记录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3749040" y="3474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1017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3749040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3767328" y="38587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生理信号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4882896" y="3474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4882896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4901184" y="38587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屏幕/跨设备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6016752" y="3474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6016752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6035040" y="38587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环境光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7150608" y="34747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7150608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7168896" y="385876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行为采集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457200" y="41788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华为意图理解为「任务意图」而非「情感状态」；Google/Apple 的 L1-L2 为通用平台能力，未接入情感推断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57200" y="468172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594360" y="46817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真正的空白：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竞品并非缺L1-L2平台能力，而是无人把行为信号接入情感推断——UTM的机会是把已有的OS行为采集能力（L1-L2）首次贯通到L3-L4情感状态服务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 · 感知模态全景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五种感知模态：谁成熟、谁在研究、谁是空白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模态 × 采集/处理/响应（●成熟 ◐部分 ○空白）· 含2026.5 Google I/O、2025.10 vivo VDC最新信息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模态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856232" y="11521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代表玩家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29000" y="11521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60520" y="11521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92040" y="11521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23560" y="1152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成熟度判断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408176"/>
            <a:ext cx="8229600" cy="0"/>
          </a:xfrm>
          <a:prstGeom prst="line">
            <a:avLst/>
          </a:prstGeom>
          <a:noFill/>
          <a:ln w="12700">
            <a:solidFill>
              <a:srgbClr val="1A1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81328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5087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文本对话情绪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7556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LLM原生·仅限对话场景;模型厂商止步于此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176272" y="150876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Gemini/GPT/AffectGPT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383280" y="14813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14813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4813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1481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商用爆发期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211226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语音韵律情绪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23591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&lt;300ms实时;需语音交互触发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176272" y="2112264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 EVI(→Google)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3383280" y="20848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20848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0848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20848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商用成熟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88336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" y="27157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视觉(面部/图像)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" y="29626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微软2022主动下架Emotion API(伦理)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176272" y="27157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MediaPipe/学术AU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3383280" y="26883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0" y="26883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26883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26883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长期研究·隐私受限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291840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0D1017"/>
          </a:solidFill>
          <a:ln w="1270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30352" y="33192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生理信号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" y="3566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Health app+Fitbit Air(2026.5)在收拢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176272" y="33192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Samsung/Apple/Fitbit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338328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1148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62356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成熟·设备依赖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895344"/>
            <a:ext cx="8229600" cy="548640"/>
          </a:xfrm>
          <a:prstGeom prst="roundRect">
            <a:avLst>
              <a:gd name="adj" fmla="val 6667"/>
            </a:avLst>
          </a:prstGeom>
          <a:solidFill>
            <a:srgbClr val="0A1A1F"/>
          </a:solidFill>
          <a:ln w="1651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30352" y="39227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OS操作行为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" y="41696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仅统计/单点(Pause Point防沉迷);无状态模型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2176272" y="39227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仅学术(数字表型)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3383280" y="38953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14800" y="38953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46320" y="38953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623560" y="38953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空白 = UTM机会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590288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94360" y="45902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</a:t>
            </a:r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①②④红海且巨头已占；③有隐私天花板(微软撤退先例)；⑤采集API现成+学术验证十年+无人产品化——唯一低竞争高可行。且行为数据在OS手里，模型厂商结构性拿不到，是OS独有壁垒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 · OS内AI能力边界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各厂商的模态技术边界：有能力，但止于何处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95528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绿=已做情感/状态分析  黄=有技术、用于效率或健康、未做情绪  灰=无布局 · 含I/O 2026与VDC 2025最新动态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98448" y="10332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①文本对话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880360" y="10332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②语音韵律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62272" y="10332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③视觉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44184" y="10332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④生理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26096" y="10332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⑤OS行为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868680" cy="822960"/>
          </a:xfrm>
          <a:prstGeom prst="roundRect">
            <a:avLst>
              <a:gd name="adj" fmla="val 4444"/>
            </a:avLst>
          </a:prstGeom>
          <a:solidFill>
            <a:srgbClr val="0D1017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261872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98448" y="1261872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53312" y="13258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Gemini情感分析+生成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353312" y="16733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对话内情绪理解与回应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2880360" y="1261872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35224" y="13258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 EVI韵律(收购)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2935224" y="16733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&lt;300ms实时语音情绪</a:t>
            </a:r>
            <a:endParaRPr lang="en-US" sz="660" dirty="0"/>
          </a:p>
        </p:txBody>
      </p:sp>
      <p:sp>
        <p:nvSpPr>
          <p:cNvPr id="18" name="Shape 16"/>
          <p:cNvSpPr/>
          <p:nvPr/>
        </p:nvSpPr>
        <p:spPr>
          <a:xfrm>
            <a:off x="4462272" y="1261872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17136" y="13258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MediaPipe/Lens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4517136" y="16733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读图识物·仅开发者工具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6044184" y="1261872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99048" y="13258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Health+Fitbit Air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6099048" y="16733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2026.5发布·健康向未接情绪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7626096" y="1261872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13258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Wellbeing+Pause Point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7680960" y="16733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统计+防沉迷单点·Spark理解的是任务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365760" y="2148840"/>
            <a:ext cx="868680" cy="822960"/>
          </a:xfrm>
          <a:prstGeom prst="roundRect">
            <a:avLst>
              <a:gd name="adj" fmla="val 4444"/>
            </a:avLst>
          </a:prstGeom>
          <a:solidFill>
            <a:srgbClr val="0D1017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214884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298448" y="2148840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53312" y="22128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AI(Gemini底层)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1353312" y="25603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读屏·短信生成回复·不做情绪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2880360" y="2148840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35224" y="22128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Siri语音交互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2935224" y="25603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指令识别·无韵律情绪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4462272" y="2148840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17136" y="22128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Intelligence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4517136" y="25603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图库问答·内容理解不看人</a:t>
            </a:r>
            <a:endParaRPr lang="en-US" sz="660" dirty="0"/>
          </a:p>
        </p:txBody>
      </p:sp>
      <p:sp>
        <p:nvSpPr>
          <p:cNvPr id="38" name="Shape 36"/>
          <p:cNvSpPr/>
          <p:nvPr/>
        </p:nvSpPr>
        <p:spPr>
          <a:xfrm>
            <a:off x="6044184" y="2148840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99048" y="22128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Mind+量表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6099048" y="25603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心境记录·PHQ/GAD·端侧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7626096" y="2148840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80960" y="22128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7680960" y="25603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仅统计·无行为推断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365760" y="3035808"/>
            <a:ext cx="868680" cy="822960"/>
          </a:xfrm>
          <a:prstGeom prst="roundRect">
            <a:avLst>
              <a:gd name="adj" fmla="val 4444"/>
            </a:avLst>
          </a:prstGeom>
          <a:solidFill>
            <a:srgbClr val="0D1017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65760" y="3035808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Samsung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298448" y="3035808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353312" y="30998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 AI(Gemini)</a:t>
            </a:r>
            <a:endParaRPr lang="en-US" sz="730" dirty="0"/>
          </a:p>
        </p:txBody>
      </p:sp>
      <p:sp>
        <p:nvSpPr>
          <p:cNvPr id="48" name="Text 46"/>
          <p:cNvSpPr/>
          <p:nvPr/>
        </p:nvSpPr>
        <p:spPr>
          <a:xfrm>
            <a:off x="1353312" y="3447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翻译/摘要·效率向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2880360" y="3035808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0A0C11"/>
          </a:solidFill>
          <a:ln w="7620">
            <a:solidFill>
              <a:srgbClr val="1A1F2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935224" y="30998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4462272" y="3035808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17136" y="30998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to Search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4517136" y="3447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圈选识图·效率向</a:t>
            </a:r>
            <a:endParaRPr lang="en-US" sz="660" dirty="0"/>
          </a:p>
        </p:txBody>
      </p:sp>
      <p:sp>
        <p:nvSpPr>
          <p:cNvPr id="54" name="Shape 52"/>
          <p:cNvSpPr/>
          <p:nvPr/>
        </p:nvSpPr>
        <p:spPr>
          <a:xfrm>
            <a:off x="6044184" y="3035808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0C1A1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099048" y="30998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Score+Vitals</a:t>
            </a:r>
            <a:endParaRPr lang="en-US" sz="730" dirty="0"/>
          </a:p>
        </p:txBody>
      </p:sp>
      <p:sp>
        <p:nvSpPr>
          <p:cNvPr id="56" name="Text 54"/>
          <p:cNvSpPr/>
          <p:nvPr/>
        </p:nvSpPr>
        <p:spPr>
          <a:xfrm>
            <a:off x="6099048" y="3447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生理vs个人基线·恢复状态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7626096" y="3035808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680960" y="30998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使用统计</a:t>
            </a:r>
            <a:endParaRPr lang="en-US" sz="730" dirty="0"/>
          </a:p>
        </p:txBody>
      </p:sp>
      <p:sp>
        <p:nvSpPr>
          <p:cNvPr id="59" name="Text 57"/>
          <p:cNvSpPr/>
          <p:nvPr/>
        </p:nvSpPr>
        <p:spPr>
          <a:xfrm>
            <a:off x="7680960" y="344728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仅统计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365760" y="3922776"/>
            <a:ext cx="868680" cy="822960"/>
          </a:xfrm>
          <a:prstGeom prst="roundRect">
            <a:avLst>
              <a:gd name="adj" fmla="val 4444"/>
            </a:avLst>
          </a:prstGeom>
          <a:solidFill>
            <a:srgbClr val="0D1017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65760" y="3922776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298448" y="3922776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353312" y="39867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蓝心3B五合一(端侧SOTA)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1353312" y="43342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意图框架2.0·MCP/A2A·效率向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2880360" y="3922776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935224" y="39867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小V全双工语音</a:t>
            </a:r>
            <a:endParaRPr lang="en-US" sz="730" dirty="0"/>
          </a:p>
        </p:txBody>
      </p:sp>
      <p:sp>
        <p:nvSpPr>
          <p:cNvPr id="67" name="Text 65"/>
          <p:cNvSpPr/>
          <p:nvPr/>
        </p:nvSpPr>
        <p:spPr>
          <a:xfrm>
            <a:off x="2935224" y="43342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超拟人音色·无韵律情绪分析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4462272" y="3922776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517136" y="39867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小V圈搜2.0</a:t>
            </a:r>
            <a:endParaRPr lang="en-US" sz="730" dirty="0"/>
          </a:p>
        </p:txBody>
      </p:sp>
      <p:sp>
        <p:nvSpPr>
          <p:cNvPr id="70" name="Text 68"/>
          <p:cNvSpPr/>
          <p:nvPr/>
        </p:nvSpPr>
        <p:spPr>
          <a:xfrm>
            <a:off x="4517136" y="43342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屏幕感知·意图理解·效率向</a:t>
            </a:r>
            <a:endParaRPr lang="en-US" sz="660" dirty="0"/>
          </a:p>
        </p:txBody>
      </p:sp>
      <p:sp>
        <p:nvSpPr>
          <p:cNvPr id="71" name="Shape 69"/>
          <p:cNvSpPr/>
          <p:nvPr/>
        </p:nvSpPr>
        <p:spPr>
          <a:xfrm>
            <a:off x="6044184" y="3922776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099048" y="39867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手表基础健康</a:t>
            </a:r>
            <a:endParaRPr lang="en-US" sz="730" dirty="0"/>
          </a:p>
        </p:txBody>
      </p:sp>
      <p:sp>
        <p:nvSpPr>
          <p:cNvPr id="73" name="Text 71"/>
          <p:cNvSpPr/>
          <p:nvPr/>
        </p:nvSpPr>
        <p:spPr>
          <a:xfrm>
            <a:off x="6099048" y="43342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HR/睡眠·无状态模型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7626096" y="3922776"/>
            <a:ext cx="1536192" cy="822960"/>
          </a:xfrm>
          <a:prstGeom prst="roundRect">
            <a:avLst>
              <a:gd name="adj" fmla="val 4444"/>
            </a:avLst>
          </a:prstGeom>
          <a:solidFill>
            <a:srgbClr val="3D2E0A"/>
          </a:solidFill>
          <a:ln w="7620">
            <a:solidFill>
              <a:srgbClr val="6B54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680960" y="39867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AI舒眠学作息</a:t>
            </a:r>
            <a:endParaRPr lang="en-US" sz="730" dirty="0"/>
          </a:p>
        </p:txBody>
      </p:sp>
      <p:sp>
        <p:nvSpPr>
          <p:cNvPr id="76" name="Text 74"/>
          <p:cNvSpPr/>
          <p:nvPr/>
        </p:nvSpPr>
        <p:spPr>
          <a:xfrm>
            <a:off x="7680960" y="433425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唯一宣称「洞悉情绪」·落地仍是舒适功能</a:t>
            </a:r>
            <a:endParaRPr lang="en-US" sz="660" dirty="0"/>
          </a:p>
        </p:txBody>
      </p:sp>
      <p:sp>
        <p:nvSpPr>
          <p:cNvPr id="77" name="Shape 75"/>
          <p:cNvSpPr/>
          <p:nvPr/>
        </p:nvSpPr>
        <p:spPr>
          <a:xfrm>
            <a:off x="365760" y="4700016"/>
            <a:ext cx="8412480" cy="347472"/>
          </a:xfrm>
          <a:prstGeom prst="roundRect">
            <a:avLst>
              <a:gd name="adj" fmla="val 10526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02920" y="470001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边界规律：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大模型模态(①②③)统一用于「做事效率」，生理(④)用于「健康看护」；⑤全行业止于统计/单点。vivo是唯一公开宣称「洞悉情绪」的厂商，但路线是感官舒适非行为状态模型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竞品深析 · GOOGLE / ANDROID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Google：全模态底座最全，情感只在对话内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绿=情感/状态分析  黄=有技术·用于效率或健康  灰=无 · 含I/O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①文本对话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670048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②语音韵律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4279392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③视觉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888736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④生理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498080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⑤OS行为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4447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响应执行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1060704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06424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情感化回复策略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1106424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Gemini对话调节</a:t>
            </a:r>
            <a:endParaRPr lang="en-US" sz="610" dirty="0"/>
          </a:p>
        </p:txBody>
      </p:sp>
      <p:sp>
        <p:nvSpPr>
          <p:cNvPr id="16" name="Shape 14"/>
          <p:cNvSpPr/>
          <p:nvPr/>
        </p:nvSpPr>
        <p:spPr>
          <a:xfrm>
            <a:off x="2670048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15768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EVI情感语音生成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2715768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eLLM语气输出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4279392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25112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21" name="Shape 19"/>
          <p:cNvSpPr/>
          <p:nvPr/>
        </p:nvSpPr>
        <p:spPr>
          <a:xfrm>
            <a:off x="5888736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34456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Health提醒</a:t>
            </a:r>
            <a:endParaRPr lang="en-US" sz="690" dirty="0"/>
          </a:p>
        </p:txBody>
      </p:sp>
      <p:sp>
        <p:nvSpPr>
          <p:cNvPr id="23" name="Text 21"/>
          <p:cNvSpPr/>
          <p:nvPr/>
        </p:nvSpPr>
        <p:spPr>
          <a:xfrm>
            <a:off x="5934456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2026.5·健康向</a:t>
            </a:r>
            <a:endParaRPr lang="en-US" sz="610" dirty="0"/>
          </a:p>
        </p:txBody>
      </p:sp>
      <p:sp>
        <p:nvSpPr>
          <p:cNvPr id="24" name="Shape 22"/>
          <p:cNvSpPr/>
          <p:nvPr/>
        </p:nvSpPr>
        <p:spPr>
          <a:xfrm>
            <a:off x="7498080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Spark/Halo</a:t>
            </a: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7543800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任务Agent·非状态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365760" y="1911096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2002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22402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状态/意图推断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1060704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06424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Gemini情感分析</a:t>
            </a:r>
            <a:endParaRPr lang="en-US" sz="690" dirty="0"/>
          </a:p>
        </p:txBody>
      </p:sp>
      <p:sp>
        <p:nvSpPr>
          <p:cNvPr id="32" name="Text 30"/>
          <p:cNvSpPr/>
          <p:nvPr/>
        </p:nvSpPr>
        <p:spPr>
          <a:xfrm>
            <a:off x="1106424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对话内情绪理解</a:t>
            </a:r>
            <a:endParaRPr lang="en-US" sz="610" dirty="0"/>
          </a:p>
        </p:txBody>
      </p:sp>
      <p:sp>
        <p:nvSpPr>
          <p:cNvPr id="33" name="Shape 31"/>
          <p:cNvSpPr/>
          <p:nvPr/>
        </p:nvSpPr>
        <p:spPr>
          <a:xfrm>
            <a:off x="2670048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15768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EVI情绪推断</a:t>
            </a:r>
            <a:endParaRPr lang="en-US" sz="690" dirty="0"/>
          </a:p>
        </p:txBody>
      </p:sp>
      <p:sp>
        <p:nvSpPr>
          <p:cNvPr id="35" name="Text 33"/>
          <p:cNvSpPr/>
          <p:nvPr/>
        </p:nvSpPr>
        <p:spPr>
          <a:xfrm>
            <a:off x="2715768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&lt;300ms实时</a:t>
            </a:r>
            <a:endParaRPr lang="en-US" sz="610" dirty="0"/>
          </a:p>
        </p:txBody>
      </p:sp>
      <p:sp>
        <p:nvSpPr>
          <p:cNvPr id="36" name="Shape 34"/>
          <p:cNvSpPr/>
          <p:nvPr/>
        </p:nvSpPr>
        <p:spPr>
          <a:xfrm>
            <a:off x="4279392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25112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Lens识物</a:t>
            </a:r>
            <a:endParaRPr lang="en-US" sz="690" dirty="0"/>
          </a:p>
        </p:txBody>
      </p:sp>
      <p:sp>
        <p:nvSpPr>
          <p:cNvPr id="38" name="Text 36"/>
          <p:cNvSpPr/>
          <p:nvPr/>
        </p:nvSpPr>
        <p:spPr>
          <a:xfrm>
            <a:off x="4325112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非情绪</a:t>
            </a:r>
            <a:endParaRPr lang="en-US" sz="610" dirty="0"/>
          </a:p>
        </p:txBody>
      </p:sp>
      <p:sp>
        <p:nvSpPr>
          <p:cNvPr id="39" name="Shape 37"/>
          <p:cNvSpPr/>
          <p:nvPr/>
        </p:nvSpPr>
        <p:spPr>
          <a:xfrm>
            <a:off x="5888736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34456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Response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5934456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EDA压力检测</a:t>
            </a:r>
            <a:endParaRPr lang="en-US" sz="610" dirty="0"/>
          </a:p>
        </p:txBody>
      </p:sp>
      <p:sp>
        <p:nvSpPr>
          <p:cNvPr id="42" name="Shape 40"/>
          <p:cNvSpPr/>
          <p:nvPr/>
        </p:nvSpPr>
        <p:spPr>
          <a:xfrm>
            <a:off x="7498080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543800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44" name="Text 42"/>
          <p:cNvSpPr/>
          <p:nvPr/>
        </p:nvSpPr>
        <p:spPr>
          <a:xfrm>
            <a:off x="7543800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仅Pause Point单点规则</a:t>
            </a:r>
            <a:endParaRPr lang="en-US" sz="610" dirty="0"/>
          </a:p>
        </p:txBody>
      </p:sp>
      <p:sp>
        <p:nvSpPr>
          <p:cNvPr id="45" name="Shape 43"/>
          <p:cNvSpPr/>
          <p:nvPr/>
        </p:nvSpPr>
        <p:spPr>
          <a:xfrm>
            <a:off x="365760" y="2706624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65760" y="27980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4048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特征/处理</a:t>
            </a:r>
            <a:endParaRPr lang="en-US" sz="630" dirty="0"/>
          </a:p>
        </p:txBody>
      </p:sp>
      <p:sp>
        <p:nvSpPr>
          <p:cNvPr id="48" name="Shape 46"/>
          <p:cNvSpPr/>
          <p:nvPr/>
        </p:nvSpPr>
        <p:spPr>
          <a:xfrm>
            <a:off x="1060704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06424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Gemini长上下文</a:t>
            </a:r>
            <a:endParaRPr lang="en-US" sz="690" dirty="0"/>
          </a:p>
        </p:txBody>
      </p:sp>
      <p:sp>
        <p:nvSpPr>
          <p:cNvPr id="50" name="Text 48"/>
          <p:cNvSpPr/>
          <p:nvPr/>
        </p:nvSpPr>
        <p:spPr>
          <a:xfrm>
            <a:off x="1106424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百万级token·多模态</a:t>
            </a:r>
            <a:endParaRPr lang="en-US" sz="610" dirty="0"/>
          </a:p>
        </p:txBody>
      </p:sp>
      <p:sp>
        <p:nvSpPr>
          <p:cNvPr id="51" name="Shape 49"/>
          <p:cNvSpPr/>
          <p:nvPr/>
        </p:nvSpPr>
        <p:spPr>
          <a:xfrm>
            <a:off x="2670048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715768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prosody特征</a:t>
            </a:r>
            <a:endParaRPr lang="en-US" sz="690" dirty="0"/>
          </a:p>
        </p:txBody>
      </p:sp>
      <p:sp>
        <p:nvSpPr>
          <p:cNvPr id="53" name="Text 51"/>
          <p:cNvSpPr/>
          <p:nvPr/>
        </p:nvSpPr>
        <p:spPr>
          <a:xfrm>
            <a:off x="2715768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Hume声学</a:t>
            </a:r>
            <a:endParaRPr lang="en-US" sz="610" dirty="0"/>
          </a:p>
        </p:txBody>
      </p:sp>
      <p:sp>
        <p:nvSpPr>
          <p:cNvPr id="54" name="Shape 52"/>
          <p:cNvSpPr/>
          <p:nvPr/>
        </p:nvSpPr>
        <p:spPr>
          <a:xfrm>
            <a:off x="4279392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325112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690" dirty="0"/>
          </a:p>
        </p:txBody>
      </p:sp>
      <p:sp>
        <p:nvSpPr>
          <p:cNvPr id="56" name="Text 54"/>
          <p:cNvSpPr/>
          <p:nvPr/>
        </p:nvSpPr>
        <p:spPr>
          <a:xfrm>
            <a:off x="4325112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FaceMesh关键点·开发者工具</a:t>
            </a:r>
            <a:endParaRPr lang="en-US" sz="610" dirty="0"/>
          </a:p>
        </p:txBody>
      </p:sp>
      <p:sp>
        <p:nvSpPr>
          <p:cNvPr id="57" name="Shape 55"/>
          <p:cNvSpPr/>
          <p:nvPr/>
        </p:nvSpPr>
        <p:spPr>
          <a:xfrm>
            <a:off x="5888736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934456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HRV/EDA特征</a:t>
            </a:r>
            <a:endParaRPr lang="en-US" sz="690" dirty="0"/>
          </a:p>
        </p:txBody>
      </p:sp>
      <p:sp>
        <p:nvSpPr>
          <p:cNvPr id="59" name="Text 57"/>
          <p:cNvSpPr/>
          <p:nvPr/>
        </p:nvSpPr>
        <p:spPr>
          <a:xfrm>
            <a:off x="5934456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Fitbit算法</a:t>
            </a:r>
            <a:endParaRPr lang="en-US" sz="610" dirty="0"/>
          </a:p>
        </p:txBody>
      </p:sp>
      <p:sp>
        <p:nvSpPr>
          <p:cNvPr id="60" name="Shape 58"/>
          <p:cNvSpPr/>
          <p:nvPr/>
        </p:nvSpPr>
        <p:spPr>
          <a:xfrm>
            <a:off x="7498080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543800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Wellbeing日聚合</a:t>
            </a:r>
            <a:endParaRPr lang="en-US" sz="690" dirty="0"/>
          </a:p>
        </p:txBody>
      </p:sp>
      <p:sp>
        <p:nvSpPr>
          <p:cNvPr id="62" name="Text 60"/>
          <p:cNvSpPr/>
          <p:nvPr/>
        </p:nvSpPr>
        <p:spPr>
          <a:xfrm>
            <a:off x="7543800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屏时/解锁/通知</a:t>
            </a:r>
            <a:endParaRPr lang="en-US" sz="610" dirty="0"/>
          </a:p>
        </p:txBody>
      </p:sp>
      <p:sp>
        <p:nvSpPr>
          <p:cNvPr id="63" name="Shape 61"/>
          <p:cNvSpPr/>
          <p:nvPr/>
        </p:nvSpPr>
        <p:spPr>
          <a:xfrm>
            <a:off x="365760" y="3502152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FB92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65760" y="3593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84048" y="383133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信号采集</a:t>
            </a:r>
            <a:endParaRPr lang="en-US" sz="630" dirty="0"/>
          </a:p>
        </p:txBody>
      </p:sp>
      <p:sp>
        <p:nvSpPr>
          <p:cNvPr id="66" name="Shape 64"/>
          <p:cNvSpPr/>
          <p:nvPr/>
        </p:nvSpPr>
        <p:spPr>
          <a:xfrm>
            <a:off x="1060704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106424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对话/ASR输入</a:t>
            </a:r>
            <a:endParaRPr lang="en-US" sz="690" dirty="0"/>
          </a:p>
        </p:txBody>
      </p:sp>
      <p:sp>
        <p:nvSpPr>
          <p:cNvPr id="68" name="Shape 66"/>
          <p:cNvSpPr/>
          <p:nvPr/>
        </p:nvSpPr>
        <p:spPr>
          <a:xfrm>
            <a:off x="2670048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715768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麦克风流</a:t>
            </a:r>
            <a:endParaRPr lang="en-US" sz="690" dirty="0"/>
          </a:p>
        </p:txBody>
      </p:sp>
      <p:sp>
        <p:nvSpPr>
          <p:cNvPr id="70" name="Text 68"/>
          <p:cNvSpPr/>
          <p:nvPr/>
        </p:nvSpPr>
        <p:spPr>
          <a:xfrm>
            <a:off x="2715768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交互时</a:t>
            </a:r>
            <a:endParaRPr lang="en-US" sz="610" dirty="0"/>
          </a:p>
        </p:txBody>
      </p:sp>
      <p:sp>
        <p:nvSpPr>
          <p:cNvPr id="71" name="Shape 69"/>
          <p:cNvSpPr/>
          <p:nvPr/>
        </p:nvSpPr>
        <p:spPr>
          <a:xfrm>
            <a:off x="4279392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325112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相机/屏幕</a:t>
            </a:r>
            <a:endParaRPr lang="en-US" sz="690" dirty="0"/>
          </a:p>
        </p:txBody>
      </p:sp>
      <p:sp>
        <p:nvSpPr>
          <p:cNvPr id="73" name="Text 71"/>
          <p:cNvSpPr/>
          <p:nvPr/>
        </p:nvSpPr>
        <p:spPr>
          <a:xfrm>
            <a:off x="4325112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Lens/Circle</a:t>
            </a:r>
            <a:endParaRPr lang="en-US" sz="610" dirty="0"/>
          </a:p>
        </p:txBody>
      </p:sp>
      <p:sp>
        <p:nvSpPr>
          <p:cNvPr id="74" name="Shape 72"/>
          <p:cNvSpPr/>
          <p:nvPr/>
        </p:nvSpPr>
        <p:spPr>
          <a:xfrm>
            <a:off x="5888736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934456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Fitbit/Pixel Watch</a:t>
            </a:r>
            <a:endParaRPr lang="en-US" sz="690" dirty="0"/>
          </a:p>
        </p:txBody>
      </p:sp>
      <p:sp>
        <p:nvSpPr>
          <p:cNvPr id="76" name="Text 74"/>
          <p:cNvSpPr/>
          <p:nvPr/>
        </p:nvSpPr>
        <p:spPr>
          <a:xfrm>
            <a:off x="5934456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穿戴传感</a:t>
            </a:r>
            <a:endParaRPr lang="en-US" sz="610" dirty="0"/>
          </a:p>
        </p:txBody>
      </p:sp>
      <p:sp>
        <p:nvSpPr>
          <p:cNvPr id="77" name="Shape 75"/>
          <p:cNvSpPr/>
          <p:nvPr/>
        </p:nvSpPr>
        <p:spPr>
          <a:xfrm>
            <a:off x="7498080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543800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UsageStats API</a:t>
            </a:r>
            <a:endParaRPr lang="en-US" sz="690" dirty="0"/>
          </a:p>
        </p:txBody>
      </p:sp>
      <p:sp>
        <p:nvSpPr>
          <p:cNvPr id="79" name="Text 77"/>
          <p:cNvSpPr/>
          <p:nvPr/>
        </p:nvSpPr>
        <p:spPr>
          <a:xfrm>
            <a:off x="7543800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最完整行为采集</a:t>
            </a:r>
            <a:endParaRPr lang="en-US" sz="610" dirty="0"/>
          </a:p>
        </p:txBody>
      </p:sp>
      <p:sp>
        <p:nvSpPr>
          <p:cNvPr id="80" name="Shape 78"/>
          <p:cNvSpPr/>
          <p:nvPr/>
        </p:nvSpPr>
        <p:spPr>
          <a:xfrm>
            <a:off x="365760" y="4626864"/>
            <a:ext cx="8412480" cy="411480"/>
          </a:xfrm>
          <a:prstGeom prst="roundRect">
            <a:avLst>
              <a:gd name="adj" fmla="val 6667"/>
            </a:avLst>
          </a:prstGeom>
          <a:solidFill>
            <a:srgbClr val="0A1A1F"/>
          </a:solidFill>
          <a:ln w="11430">
            <a:solidFill>
              <a:srgbClr val="22D3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02920" y="462686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洞察：</a:t>
            </a:r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L1-L2全模态底座最全(唯一五模态都有采集)，但情感仅存在①②对话内；⑤采集最强却L3空心——Fitbit/Android/DeepMind三线割裂是组织性根因；Spark/Halo容器已建，留给行为状态层的空白窗口有限</a:t>
            </a:r>
            <a:endParaRPr lang="en-US" sz="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竞品深析 · APPLE / IOS·MACOS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Apple：隐私哲学画出的边界——④全栈、①③刻意止步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绿=情感/状态分析  黄=有技术·任务/内容理解  灰=无 · 含WWDC26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①文本对话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670048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②语音韵律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4279392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③视觉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888736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④生理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498080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⑤OS行为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4447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响应执行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1060704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06424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短信生成回复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1106424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AI·任务执行</a:t>
            </a:r>
            <a:endParaRPr lang="en-US" sz="610" dirty="0"/>
          </a:p>
        </p:txBody>
      </p:sp>
      <p:sp>
        <p:nvSpPr>
          <p:cNvPr id="16" name="Shape 14"/>
          <p:cNvSpPr/>
          <p:nvPr/>
        </p:nvSpPr>
        <p:spPr>
          <a:xfrm>
            <a:off x="2670048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15768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语音应答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2715768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无情感表达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4279392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25112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图库问答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4325112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Intelligence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5888736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34456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健康App呈现</a:t>
            </a:r>
            <a:endParaRPr lang="en-US" sz="690" dirty="0"/>
          </a:p>
        </p:txBody>
      </p:sp>
      <p:sp>
        <p:nvSpPr>
          <p:cNvPr id="24" name="Text 22"/>
          <p:cNvSpPr/>
          <p:nvPr/>
        </p:nvSpPr>
        <p:spPr>
          <a:xfrm>
            <a:off x="5934456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心境趋势+建议</a:t>
            </a:r>
            <a:endParaRPr lang="en-US" sz="610" dirty="0"/>
          </a:p>
        </p:txBody>
      </p:sp>
      <p:sp>
        <p:nvSpPr>
          <p:cNvPr id="25" name="Shape 23"/>
          <p:cNvSpPr/>
          <p:nvPr/>
        </p:nvSpPr>
        <p:spPr>
          <a:xfrm>
            <a:off x="7498080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27" name="Shape 25"/>
          <p:cNvSpPr/>
          <p:nvPr/>
        </p:nvSpPr>
        <p:spPr>
          <a:xfrm>
            <a:off x="365760" y="1911096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2002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22402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状态/意图推断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1060704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06424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任务意图理解</a:t>
            </a:r>
            <a:endParaRPr lang="en-US" sz="690" dirty="0"/>
          </a:p>
        </p:txBody>
      </p:sp>
      <p:sp>
        <p:nvSpPr>
          <p:cNvPr id="32" name="Text 30"/>
          <p:cNvSpPr/>
          <p:nvPr/>
        </p:nvSpPr>
        <p:spPr>
          <a:xfrm>
            <a:off x="1106424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context·不做情绪</a:t>
            </a:r>
            <a:endParaRPr lang="en-US" sz="610" dirty="0"/>
          </a:p>
        </p:txBody>
      </p:sp>
      <p:sp>
        <p:nvSpPr>
          <p:cNvPr id="33" name="Shape 31"/>
          <p:cNvSpPr/>
          <p:nvPr/>
        </p:nvSpPr>
        <p:spPr>
          <a:xfrm>
            <a:off x="2670048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15768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指令理解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4279392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25112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内容理解</a:t>
            </a:r>
            <a:endParaRPr lang="en-US" sz="690" dirty="0"/>
          </a:p>
        </p:txBody>
      </p:sp>
      <p:sp>
        <p:nvSpPr>
          <p:cNvPr id="37" name="Text 35"/>
          <p:cNvSpPr/>
          <p:nvPr/>
        </p:nvSpPr>
        <p:spPr>
          <a:xfrm>
            <a:off x="4325112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读屏·不看人</a:t>
            </a:r>
            <a:endParaRPr lang="en-US" sz="610" dirty="0"/>
          </a:p>
        </p:txBody>
      </p:sp>
      <p:sp>
        <p:nvSpPr>
          <p:cNvPr id="38" name="Shape 36"/>
          <p:cNvSpPr/>
          <p:nvPr/>
        </p:nvSpPr>
        <p:spPr>
          <a:xfrm>
            <a:off x="5888736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34456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Mind+量表</a:t>
            </a:r>
            <a:endParaRPr lang="en-US" sz="690" dirty="0"/>
          </a:p>
        </p:txBody>
      </p:sp>
      <p:sp>
        <p:nvSpPr>
          <p:cNvPr id="40" name="Text 38"/>
          <p:cNvSpPr/>
          <p:nvPr/>
        </p:nvSpPr>
        <p:spPr>
          <a:xfrm>
            <a:off x="5934456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PHQ-9/GAD-7·端侧</a:t>
            </a:r>
            <a:endParaRPr lang="en-US" sz="610" dirty="0"/>
          </a:p>
        </p:txBody>
      </p:sp>
      <p:sp>
        <p:nvSpPr>
          <p:cNvPr id="41" name="Shape 39"/>
          <p:cNvSpPr/>
          <p:nvPr/>
        </p:nvSpPr>
        <p:spPr>
          <a:xfrm>
            <a:off x="7498080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43800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365760" y="2706624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27980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84048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特征/处理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1060704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106424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Siri智能层(据报Gemini)</a:t>
            </a:r>
            <a:endParaRPr lang="en-US" sz="690" dirty="0"/>
          </a:p>
        </p:txBody>
      </p:sp>
      <p:sp>
        <p:nvSpPr>
          <p:cNvPr id="48" name="Text 46"/>
          <p:cNvSpPr/>
          <p:nvPr/>
        </p:nvSpPr>
        <p:spPr>
          <a:xfrm>
            <a:off x="1106424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Models为自研框架</a:t>
            </a:r>
            <a:endParaRPr lang="en-US" sz="610" dirty="0"/>
          </a:p>
        </p:txBody>
      </p:sp>
      <p:sp>
        <p:nvSpPr>
          <p:cNvPr id="49" name="Shape 47"/>
          <p:cNvSpPr/>
          <p:nvPr/>
        </p:nvSpPr>
        <p:spPr>
          <a:xfrm>
            <a:off x="2670048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15768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690" dirty="0"/>
          </a:p>
        </p:txBody>
      </p:sp>
      <p:sp>
        <p:nvSpPr>
          <p:cNvPr id="51" name="Shape 49"/>
          <p:cNvSpPr/>
          <p:nvPr/>
        </p:nvSpPr>
        <p:spPr>
          <a:xfrm>
            <a:off x="4279392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325112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on-screen awareness</a:t>
            </a:r>
            <a:endParaRPr lang="en-US" sz="690" dirty="0"/>
          </a:p>
        </p:txBody>
      </p:sp>
      <p:sp>
        <p:nvSpPr>
          <p:cNvPr id="53" name="Text 51"/>
          <p:cNvSpPr/>
          <p:nvPr/>
        </p:nvSpPr>
        <p:spPr>
          <a:xfrm>
            <a:off x="4325112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跨App屏幕语义</a:t>
            </a:r>
            <a:endParaRPr lang="en-US" sz="610" dirty="0"/>
          </a:p>
        </p:txBody>
      </p:sp>
      <p:sp>
        <p:nvSpPr>
          <p:cNvPr id="54" name="Shape 52"/>
          <p:cNvSpPr/>
          <p:nvPr/>
        </p:nvSpPr>
        <p:spPr>
          <a:xfrm>
            <a:off x="5888736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934456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HRV/睡眠特征</a:t>
            </a:r>
            <a:endParaRPr lang="en-US" sz="690" dirty="0"/>
          </a:p>
        </p:txBody>
      </p:sp>
      <p:sp>
        <p:nvSpPr>
          <p:cNvPr id="56" name="Text 54"/>
          <p:cNvSpPr/>
          <p:nvPr/>
        </p:nvSpPr>
        <p:spPr>
          <a:xfrm>
            <a:off x="5934456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Watch算法</a:t>
            </a:r>
            <a:endParaRPr lang="en-US" sz="610" dirty="0"/>
          </a:p>
        </p:txBody>
      </p:sp>
      <p:sp>
        <p:nvSpPr>
          <p:cNvPr id="57" name="Shape 55"/>
          <p:cNvSpPr/>
          <p:nvPr/>
        </p:nvSpPr>
        <p:spPr>
          <a:xfrm>
            <a:off x="7498080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543800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使用统计</a:t>
            </a:r>
            <a:endParaRPr lang="en-US" sz="690" dirty="0"/>
          </a:p>
        </p:txBody>
      </p:sp>
      <p:sp>
        <p:nvSpPr>
          <p:cNvPr id="59" name="Text 57"/>
          <p:cNvSpPr/>
          <p:nvPr/>
        </p:nvSpPr>
        <p:spPr>
          <a:xfrm>
            <a:off x="7543800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</a:t>
            </a:r>
            <a:endParaRPr lang="en-US" sz="610" dirty="0"/>
          </a:p>
        </p:txBody>
      </p:sp>
      <p:sp>
        <p:nvSpPr>
          <p:cNvPr id="60" name="Shape 58"/>
          <p:cNvSpPr/>
          <p:nvPr/>
        </p:nvSpPr>
        <p:spPr>
          <a:xfrm>
            <a:off x="365760" y="3502152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FB92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65760" y="3593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4048" y="383133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信号采集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1060704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106424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键盘/信息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2670048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715768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Siri麦克风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4279392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325112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相机/屏幕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5888736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934456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Watch传感</a:t>
            </a:r>
            <a:endParaRPr lang="en-US" sz="690" dirty="0"/>
          </a:p>
        </p:txBody>
      </p:sp>
      <p:sp>
        <p:nvSpPr>
          <p:cNvPr id="71" name="Text 69"/>
          <p:cNvSpPr/>
          <p:nvPr/>
        </p:nvSpPr>
        <p:spPr>
          <a:xfrm>
            <a:off x="5934456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HR/HRV/皮温</a:t>
            </a:r>
            <a:endParaRPr lang="en-US" sz="610" dirty="0"/>
          </a:p>
        </p:txBody>
      </p:sp>
      <p:sp>
        <p:nvSpPr>
          <p:cNvPr id="72" name="Shape 70"/>
          <p:cNvSpPr/>
          <p:nvPr/>
        </p:nvSpPr>
        <p:spPr>
          <a:xfrm>
            <a:off x="7498080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7543800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Time采集</a:t>
            </a:r>
            <a:endParaRPr lang="en-US" sz="690" dirty="0"/>
          </a:p>
        </p:txBody>
      </p:sp>
      <p:sp>
        <p:nvSpPr>
          <p:cNvPr id="74" name="Shape 72"/>
          <p:cNvSpPr/>
          <p:nvPr/>
        </p:nvSpPr>
        <p:spPr>
          <a:xfrm>
            <a:off x="365760" y="4626864"/>
            <a:ext cx="8412480" cy="411480"/>
          </a:xfrm>
          <a:prstGeom prst="roundRect">
            <a:avLst>
              <a:gd name="adj" fmla="val 6667"/>
            </a:avLst>
          </a:prstGeom>
          <a:solidFill>
            <a:srgbClr val="0A1A1F"/>
          </a:solidFill>
          <a:ln w="11430">
            <a:solidFill>
              <a:srgbClr val="22D3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02920" y="462686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洞察：</a:t>
            </a:r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唯一④全栈绿的厂商(健康框架给了情绪正当叙事)；①③技术很强但主动不做情绪(隐私哲学)；⑤止于统计——隐私哲学是边界的根本原因，也是其它厂商无法复制的差异化</a:t>
            </a:r>
            <a:endParaRPr lang="en-US" sz="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竞品深析 · VIVO / ORIGINOS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vivo：唯一宣称「洞悉情绪」，但L3空心、L4先行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绿=情感/状态分析  黄=有技术·效率或舒适向  灰=无 · 含VDC 2025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①文本对话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670048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②语音韵律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4279392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③视觉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888736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④生理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498080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⑤OS行为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4447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响应执行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1060704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06424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小V任务执行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1106424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千余技能·车家互联</a:t>
            </a:r>
            <a:endParaRPr lang="en-US" sz="610" dirty="0"/>
          </a:p>
        </p:txBody>
      </p:sp>
      <p:sp>
        <p:nvSpPr>
          <p:cNvPr id="16" name="Shape 14"/>
          <p:cNvSpPr/>
          <p:nvPr/>
        </p:nvSpPr>
        <p:spPr>
          <a:xfrm>
            <a:off x="2670048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15768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超拟人音色输出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2715768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语调/韵律/呼吸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4279392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25112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一步直达服务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4325112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圈搜即执行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5888736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34456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舒眠/护眼调节</a:t>
            </a:r>
            <a:endParaRPr lang="en-US" sz="690" dirty="0"/>
          </a:p>
        </p:txBody>
      </p:sp>
      <p:sp>
        <p:nvSpPr>
          <p:cNvPr id="24" name="Text 22"/>
          <p:cNvSpPr/>
          <p:nvPr/>
        </p:nvSpPr>
        <p:spPr>
          <a:xfrm>
            <a:off x="5934456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色温渐变·3000K</a:t>
            </a:r>
            <a:endParaRPr lang="en-US" sz="610" dirty="0"/>
          </a:p>
        </p:txBody>
      </p:sp>
      <p:sp>
        <p:nvSpPr>
          <p:cNvPr id="25" name="Shape 23"/>
          <p:cNvSpPr/>
          <p:nvPr/>
        </p:nvSpPr>
        <p:spPr>
          <a:xfrm>
            <a:off x="7498080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屏幕自适应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7543800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作息驱动调节</a:t>
            </a:r>
            <a:endParaRPr lang="en-US" sz="610" dirty="0"/>
          </a:p>
        </p:txBody>
      </p:sp>
      <p:sp>
        <p:nvSpPr>
          <p:cNvPr id="28" name="Shape 26"/>
          <p:cNvSpPr/>
          <p:nvPr/>
        </p:nvSpPr>
        <p:spPr>
          <a:xfrm>
            <a:off x="365760" y="1911096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2002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22402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状态/意图推断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1060704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06424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意图理解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1106424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意图框架2.0·MCP/A2A</a:t>
            </a:r>
            <a:endParaRPr lang="en-US" sz="610" dirty="0"/>
          </a:p>
        </p:txBody>
      </p:sp>
      <p:sp>
        <p:nvSpPr>
          <p:cNvPr id="34" name="Shape 32"/>
          <p:cNvSpPr/>
          <p:nvPr/>
        </p:nvSpPr>
        <p:spPr>
          <a:xfrm>
            <a:off x="2670048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15768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声音记忆</a:t>
            </a: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2715768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谁·何时·说了什么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4279392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25112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主体识别+意图</a:t>
            </a:r>
            <a:endParaRPr lang="en-US" sz="690" dirty="0"/>
          </a:p>
        </p:txBody>
      </p:sp>
      <p:sp>
        <p:nvSpPr>
          <p:cNvPr id="39" name="Text 37"/>
          <p:cNvSpPr/>
          <p:nvPr/>
        </p:nvSpPr>
        <p:spPr>
          <a:xfrm>
            <a:off x="4325112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圈搜2.0</a:t>
            </a:r>
            <a:endParaRPr lang="en-US" sz="610" dirty="0"/>
          </a:p>
        </p:txBody>
      </p:sp>
      <p:sp>
        <p:nvSpPr>
          <p:cNvPr id="40" name="Shape 38"/>
          <p:cNvSpPr/>
          <p:nvPr/>
        </p:nvSpPr>
        <p:spPr>
          <a:xfrm>
            <a:off x="5888736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34456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5934456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无状态模型</a:t>
            </a:r>
            <a:endParaRPr lang="en-US" sz="610" dirty="0"/>
          </a:p>
        </p:txBody>
      </p:sp>
      <p:sp>
        <p:nvSpPr>
          <p:cNvPr id="43" name="Shape 41"/>
          <p:cNvSpPr/>
          <p:nvPr/>
        </p:nvSpPr>
        <p:spPr>
          <a:xfrm>
            <a:off x="7498080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43800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45" name="Text 43"/>
          <p:cNvSpPr/>
          <p:nvPr/>
        </p:nvSpPr>
        <p:spPr>
          <a:xfrm>
            <a:off x="7543800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宣称洞悉情绪·未落地</a:t>
            </a:r>
            <a:endParaRPr lang="en-US" sz="610" dirty="0"/>
          </a:p>
        </p:txBody>
      </p:sp>
      <p:sp>
        <p:nvSpPr>
          <p:cNvPr id="46" name="Shape 44"/>
          <p:cNvSpPr/>
          <p:nvPr/>
        </p:nvSpPr>
        <p:spPr>
          <a:xfrm>
            <a:off x="365760" y="2706624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27980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84048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特征/处理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1060704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106424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蓝心3B五合一</a:t>
            </a:r>
            <a:endParaRPr lang="en-US" sz="690" dirty="0"/>
          </a:p>
        </p:txBody>
      </p:sp>
      <p:sp>
        <p:nvSpPr>
          <p:cNvPr id="51" name="Text 49"/>
          <p:cNvSpPr/>
          <p:nvPr/>
        </p:nvSpPr>
        <p:spPr>
          <a:xfrm>
            <a:off x="1106424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128K·端侧10B内SOTA</a:t>
            </a:r>
            <a:endParaRPr lang="en-US" sz="610" dirty="0"/>
          </a:p>
        </p:txBody>
      </p:sp>
      <p:sp>
        <p:nvSpPr>
          <p:cNvPr id="52" name="Shape 50"/>
          <p:cNvSpPr/>
          <p:nvPr/>
        </p:nvSpPr>
        <p:spPr>
          <a:xfrm>
            <a:off x="2670048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715768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语音大模型</a:t>
            </a:r>
            <a:endParaRPr lang="en-US" sz="690" dirty="0"/>
          </a:p>
        </p:txBody>
      </p:sp>
      <p:sp>
        <p:nvSpPr>
          <p:cNvPr id="54" name="Text 52"/>
          <p:cNvSpPr/>
          <p:nvPr/>
        </p:nvSpPr>
        <p:spPr>
          <a:xfrm>
            <a:off x="2715768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全双工</a:t>
            </a:r>
            <a:endParaRPr lang="en-US" sz="610" dirty="0"/>
          </a:p>
        </p:txBody>
      </p:sp>
      <p:sp>
        <p:nvSpPr>
          <p:cNvPr id="55" name="Shape 53"/>
          <p:cNvSpPr/>
          <p:nvPr/>
        </p:nvSpPr>
        <p:spPr>
          <a:xfrm>
            <a:off x="4279392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325112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图像大模型</a:t>
            </a:r>
            <a:endParaRPr lang="en-US" sz="690" dirty="0"/>
          </a:p>
        </p:txBody>
      </p:sp>
      <p:sp>
        <p:nvSpPr>
          <p:cNvPr id="57" name="Text 55"/>
          <p:cNvSpPr/>
          <p:nvPr/>
        </p:nvSpPr>
        <p:spPr>
          <a:xfrm>
            <a:off x="4325112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屏幕感知</a:t>
            </a:r>
            <a:endParaRPr lang="en-US" sz="610" dirty="0"/>
          </a:p>
        </p:txBody>
      </p:sp>
      <p:sp>
        <p:nvSpPr>
          <p:cNvPr id="58" name="Shape 56"/>
          <p:cNvSpPr/>
          <p:nvPr/>
        </p:nvSpPr>
        <p:spPr>
          <a:xfrm>
            <a:off x="5888736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934456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基础健康数据</a:t>
            </a:r>
            <a:endParaRPr lang="en-US" sz="690" dirty="0"/>
          </a:p>
        </p:txBody>
      </p:sp>
      <p:sp>
        <p:nvSpPr>
          <p:cNvPr id="60" name="Shape 58"/>
          <p:cNvSpPr/>
          <p:nvPr/>
        </p:nvSpPr>
        <p:spPr>
          <a:xfrm>
            <a:off x="7498080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543800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AI舒眠学作息</a:t>
            </a:r>
            <a:endParaRPr lang="en-US" sz="690" dirty="0"/>
          </a:p>
        </p:txBody>
      </p:sp>
      <p:sp>
        <p:nvSpPr>
          <p:cNvPr id="62" name="Text 60"/>
          <p:cNvSpPr/>
          <p:nvPr/>
        </p:nvSpPr>
        <p:spPr>
          <a:xfrm>
            <a:off x="7543800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轻量行为规律学习</a:t>
            </a:r>
            <a:endParaRPr lang="en-US" sz="610" dirty="0"/>
          </a:p>
        </p:txBody>
      </p:sp>
      <p:sp>
        <p:nvSpPr>
          <p:cNvPr id="63" name="Shape 61"/>
          <p:cNvSpPr/>
          <p:nvPr/>
        </p:nvSpPr>
        <p:spPr>
          <a:xfrm>
            <a:off x="365760" y="3502152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FB92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65760" y="3593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84048" y="383133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信号采集</a:t>
            </a:r>
            <a:endParaRPr lang="en-US" sz="630" dirty="0"/>
          </a:p>
        </p:txBody>
      </p:sp>
      <p:sp>
        <p:nvSpPr>
          <p:cNvPr id="66" name="Shape 64"/>
          <p:cNvSpPr/>
          <p:nvPr/>
        </p:nvSpPr>
        <p:spPr>
          <a:xfrm>
            <a:off x="1060704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106424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输入/圈搜</a:t>
            </a:r>
            <a:endParaRPr lang="en-US" sz="690" dirty="0"/>
          </a:p>
        </p:txBody>
      </p:sp>
      <p:sp>
        <p:nvSpPr>
          <p:cNvPr id="68" name="Shape 66"/>
          <p:cNvSpPr/>
          <p:nvPr/>
        </p:nvSpPr>
        <p:spPr>
          <a:xfrm>
            <a:off x="2670048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715768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全双工拾音</a:t>
            </a:r>
            <a:endParaRPr lang="en-US" sz="690" dirty="0"/>
          </a:p>
        </p:txBody>
      </p:sp>
      <p:sp>
        <p:nvSpPr>
          <p:cNvPr id="70" name="Text 68"/>
          <p:cNvSpPr/>
          <p:nvPr/>
        </p:nvSpPr>
        <p:spPr>
          <a:xfrm>
            <a:off x="2715768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3米·无唤醒词</a:t>
            </a:r>
            <a:endParaRPr lang="en-US" sz="610" dirty="0"/>
          </a:p>
        </p:txBody>
      </p:sp>
      <p:sp>
        <p:nvSpPr>
          <p:cNvPr id="71" name="Shape 69"/>
          <p:cNvSpPr/>
          <p:nvPr/>
        </p:nvSpPr>
        <p:spPr>
          <a:xfrm>
            <a:off x="4279392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325112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屏幕内容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5888736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934456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GT传感</a:t>
            </a:r>
            <a:endParaRPr lang="en-US" sz="690" dirty="0"/>
          </a:p>
        </p:txBody>
      </p:sp>
      <p:sp>
        <p:nvSpPr>
          <p:cNvPr id="75" name="Text 73"/>
          <p:cNvSpPr/>
          <p:nvPr/>
        </p:nvSpPr>
        <p:spPr>
          <a:xfrm>
            <a:off x="5934456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BlueOS 3</a:t>
            </a:r>
            <a:endParaRPr lang="en-US" sz="610" dirty="0"/>
          </a:p>
        </p:txBody>
      </p:sp>
      <p:sp>
        <p:nvSpPr>
          <p:cNvPr id="76" name="Shape 74"/>
          <p:cNvSpPr/>
          <p:nvPr/>
        </p:nvSpPr>
        <p:spPr>
          <a:xfrm>
            <a:off x="7498080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7543800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作息/使用规律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365760" y="4626864"/>
            <a:ext cx="8412480" cy="411480"/>
          </a:xfrm>
          <a:prstGeom prst="roundRect">
            <a:avLst>
              <a:gd name="adj" fmla="val 6667"/>
            </a:avLst>
          </a:prstGeom>
          <a:solidFill>
            <a:srgbClr val="0A1A1F"/>
          </a:solidFill>
          <a:ln w="11430">
            <a:solidFill>
              <a:srgbClr val="22D3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502920" y="462686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洞察：</a:t>
            </a:r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官方唯一公开宣称「洞悉人的情绪、主动提供专属化服务」(VDC 2025舒适工程情感层)；但路线是感官舒适(L4响应先行)而非状态建模(L3空心)——意图最近、路径最远。蓝心个人智能框架「全域感知+个人化沉淀」是架构语言上离UTM最近的表述</a:t>
            </a:r>
            <a:endParaRPr lang="en-US" sz="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竞品深析 · MICROSOFT / WINDOWS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微软：历史包袱最重，采集却最激进——Recall悖论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绿=情感/状态分析  黄=有技术·效率或健康向  灰=无 · 含Build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①文本对话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670048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②语音韵律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4279392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③视觉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5888736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④生理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498080" y="914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⑤OS行为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C084F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84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4447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响应执行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1060704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06424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Copilot起草/摘要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1106424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M365全家桶</a:t>
            </a:r>
            <a:endParaRPr lang="en-US" sz="610" dirty="0"/>
          </a:p>
        </p:txBody>
      </p:sp>
      <p:sp>
        <p:nvSpPr>
          <p:cNvPr id="16" name="Shape 14"/>
          <p:cNvSpPr/>
          <p:nvPr/>
        </p:nvSpPr>
        <p:spPr>
          <a:xfrm>
            <a:off x="2670048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C1A10"/>
          </a:solidFill>
          <a:ln w="1143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15768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Appearance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2715768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情感表达输出(2025)·不做识别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4279392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25112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Do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4325112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屏幕内容即操作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5888736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34456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健康建议</a:t>
            </a:r>
            <a:endParaRPr lang="en-US" sz="690" dirty="0"/>
          </a:p>
        </p:txBody>
      </p:sp>
      <p:sp>
        <p:nvSpPr>
          <p:cNvPr id="24" name="Text 22"/>
          <p:cNvSpPr/>
          <p:nvPr/>
        </p:nvSpPr>
        <p:spPr>
          <a:xfrm>
            <a:off x="5934456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含emotional wellbeing护栏</a:t>
            </a:r>
            <a:endParaRPr lang="en-US" sz="610" dirty="0"/>
          </a:p>
        </p:txBody>
      </p:sp>
      <p:sp>
        <p:nvSpPr>
          <p:cNvPr id="25" name="Shape 23"/>
          <p:cNvSpPr/>
          <p:nvPr/>
        </p:nvSpPr>
        <p:spPr>
          <a:xfrm>
            <a:off x="7498080" y="1115568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43800" y="11704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Mode(报道)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7543800" y="1499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待官方证实</a:t>
            </a:r>
            <a:endParaRPr lang="en-US" sz="610" dirty="0"/>
          </a:p>
        </p:txBody>
      </p:sp>
      <p:sp>
        <p:nvSpPr>
          <p:cNvPr id="28" name="Shape 26"/>
          <p:cNvSpPr/>
          <p:nvPr/>
        </p:nvSpPr>
        <p:spPr>
          <a:xfrm>
            <a:off x="365760" y="1911096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2002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22402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状态/意图推断</a:t>
            </a:r>
            <a:endParaRPr lang="en-US" sz="630" dirty="0"/>
          </a:p>
        </p:txBody>
      </p:sp>
      <p:sp>
        <p:nvSpPr>
          <p:cNvPr id="31" name="Shape 29"/>
          <p:cNvSpPr/>
          <p:nvPr/>
        </p:nvSpPr>
        <p:spPr>
          <a:xfrm>
            <a:off x="1060704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06424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GPT-5.x任务理解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1106424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模型路由</a:t>
            </a:r>
            <a:endParaRPr lang="en-US" sz="610" dirty="0"/>
          </a:p>
        </p:txBody>
      </p:sp>
      <p:sp>
        <p:nvSpPr>
          <p:cNvPr id="34" name="Shape 32"/>
          <p:cNvSpPr/>
          <p:nvPr/>
        </p:nvSpPr>
        <p:spPr>
          <a:xfrm>
            <a:off x="2670048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15768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指令理解</a:t>
            </a:r>
            <a:endParaRPr lang="en-US" sz="690" dirty="0"/>
          </a:p>
        </p:txBody>
      </p:sp>
      <p:sp>
        <p:nvSpPr>
          <p:cNvPr id="36" name="Text 34"/>
          <p:cNvSpPr/>
          <p:nvPr/>
        </p:nvSpPr>
        <p:spPr>
          <a:xfrm>
            <a:off x="2715768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 Copilot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4279392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25112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内容检索·非情绪</a:t>
            </a:r>
            <a:endParaRPr lang="en-US" sz="690" dirty="0"/>
          </a:p>
        </p:txBody>
      </p:sp>
      <p:sp>
        <p:nvSpPr>
          <p:cNvPr id="39" name="Text 37"/>
          <p:cNvSpPr/>
          <p:nvPr/>
        </p:nvSpPr>
        <p:spPr>
          <a:xfrm>
            <a:off x="4325112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 API 2022已下架</a:t>
            </a:r>
            <a:endParaRPr lang="en-US" sz="610" dirty="0"/>
          </a:p>
        </p:txBody>
      </p:sp>
      <p:sp>
        <p:nvSpPr>
          <p:cNvPr id="40" name="Shape 38"/>
          <p:cNvSpPr/>
          <p:nvPr/>
        </p:nvSpPr>
        <p:spPr>
          <a:xfrm>
            <a:off x="5888736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34456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临床指导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5934456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250+医生共建</a:t>
            </a:r>
            <a:endParaRPr lang="en-US" sz="610" dirty="0"/>
          </a:p>
        </p:txBody>
      </p:sp>
      <p:sp>
        <p:nvSpPr>
          <p:cNvPr id="43" name="Shape 41"/>
          <p:cNvSpPr/>
          <p:nvPr/>
        </p:nvSpPr>
        <p:spPr>
          <a:xfrm>
            <a:off x="7498080" y="1911096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43800" y="196596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45" name="Text 43"/>
          <p:cNvSpPr/>
          <p:nvPr/>
        </p:nvSpPr>
        <p:spPr>
          <a:xfrm>
            <a:off x="7543800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仅检索·无状态模型</a:t>
            </a:r>
            <a:endParaRPr lang="en-US" sz="610" dirty="0"/>
          </a:p>
        </p:txBody>
      </p:sp>
      <p:sp>
        <p:nvSpPr>
          <p:cNvPr id="46" name="Shape 44"/>
          <p:cNvSpPr/>
          <p:nvPr/>
        </p:nvSpPr>
        <p:spPr>
          <a:xfrm>
            <a:off x="365760" y="2706624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4ADE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65760" y="27980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84048" y="303580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特征/处理</a:t>
            </a:r>
            <a:endParaRPr lang="en-US" sz="630" dirty="0"/>
          </a:p>
        </p:txBody>
      </p:sp>
      <p:sp>
        <p:nvSpPr>
          <p:cNvPr id="49" name="Shape 47"/>
          <p:cNvSpPr/>
          <p:nvPr/>
        </p:nvSpPr>
        <p:spPr>
          <a:xfrm>
            <a:off x="1060704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106424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Graph上下文</a:t>
            </a:r>
            <a:endParaRPr lang="en-US" sz="690" dirty="0"/>
          </a:p>
        </p:txBody>
      </p:sp>
      <p:sp>
        <p:nvSpPr>
          <p:cNvPr id="51" name="Text 49"/>
          <p:cNvSpPr/>
          <p:nvPr/>
        </p:nvSpPr>
        <p:spPr>
          <a:xfrm>
            <a:off x="1106424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邮件/文档/会议</a:t>
            </a:r>
            <a:endParaRPr lang="en-US" sz="610" dirty="0"/>
          </a:p>
        </p:txBody>
      </p:sp>
      <p:sp>
        <p:nvSpPr>
          <p:cNvPr id="52" name="Shape 50"/>
          <p:cNvSpPr/>
          <p:nvPr/>
        </p:nvSpPr>
        <p:spPr>
          <a:xfrm>
            <a:off x="2670048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715768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4279392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325112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OCR/语义索引</a:t>
            </a:r>
            <a:endParaRPr lang="en-US" sz="690" dirty="0"/>
          </a:p>
        </p:txBody>
      </p:sp>
      <p:sp>
        <p:nvSpPr>
          <p:cNvPr id="56" name="Text 54"/>
          <p:cNvSpPr/>
          <p:nvPr/>
        </p:nvSpPr>
        <p:spPr>
          <a:xfrm>
            <a:off x="4325112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NPU端侧</a:t>
            </a:r>
            <a:endParaRPr lang="en-US" sz="610" dirty="0"/>
          </a:p>
        </p:txBody>
      </p:sp>
      <p:sp>
        <p:nvSpPr>
          <p:cNvPr id="57" name="Shape 55"/>
          <p:cNvSpPr/>
          <p:nvPr/>
        </p:nvSpPr>
        <p:spPr>
          <a:xfrm>
            <a:off x="5888736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934456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接Apple Health</a:t>
            </a:r>
            <a:endParaRPr lang="en-US" sz="690" dirty="0"/>
          </a:p>
        </p:txBody>
      </p:sp>
      <p:sp>
        <p:nvSpPr>
          <p:cNvPr id="59" name="Text 57"/>
          <p:cNvSpPr/>
          <p:nvPr/>
        </p:nvSpPr>
        <p:spPr>
          <a:xfrm>
            <a:off x="5934456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Health 2026.5</a:t>
            </a:r>
            <a:endParaRPr lang="en-US" sz="610" dirty="0"/>
          </a:p>
        </p:txBody>
      </p:sp>
      <p:sp>
        <p:nvSpPr>
          <p:cNvPr id="60" name="Shape 58"/>
          <p:cNvSpPr/>
          <p:nvPr/>
        </p:nvSpPr>
        <p:spPr>
          <a:xfrm>
            <a:off x="7498080" y="2706624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543800" y="2761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Recall语义索引</a:t>
            </a:r>
            <a:endParaRPr lang="en-US" sz="690" dirty="0"/>
          </a:p>
        </p:txBody>
      </p:sp>
      <p:sp>
        <p:nvSpPr>
          <p:cNvPr id="62" name="Text 60"/>
          <p:cNvSpPr/>
          <p:nvPr/>
        </p:nvSpPr>
        <p:spPr>
          <a:xfrm>
            <a:off x="7543800" y="30906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截屏→可搜时间线</a:t>
            </a:r>
            <a:endParaRPr lang="en-US" sz="610" dirty="0"/>
          </a:p>
        </p:txBody>
      </p:sp>
      <p:sp>
        <p:nvSpPr>
          <p:cNvPr id="63" name="Shape 61"/>
          <p:cNvSpPr/>
          <p:nvPr/>
        </p:nvSpPr>
        <p:spPr>
          <a:xfrm>
            <a:off x="365760" y="3502152"/>
            <a:ext cx="658368" cy="749808"/>
          </a:xfrm>
          <a:prstGeom prst="roundRect">
            <a:avLst>
              <a:gd name="adj" fmla="val 4167"/>
            </a:avLst>
          </a:prstGeom>
          <a:solidFill>
            <a:srgbClr val="0D1017"/>
          </a:solidFill>
          <a:ln w="10160">
            <a:solidFill>
              <a:srgbClr val="FB92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65760" y="3593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84048" y="383133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信号采集</a:t>
            </a:r>
            <a:endParaRPr lang="en-US" sz="630" dirty="0"/>
          </a:p>
        </p:txBody>
      </p:sp>
      <p:sp>
        <p:nvSpPr>
          <p:cNvPr id="66" name="Shape 64"/>
          <p:cNvSpPr/>
          <p:nvPr/>
        </p:nvSpPr>
        <p:spPr>
          <a:xfrm>
            <a:off x="1060704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106424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文档/邮件</a:t>
            </a:r>
            <a:endParaRPr lang="en-US" sz="690" dirty="0"/>
          </a:p>
        </p:txBody>
      </p:sp>
      <p:sp>
        <p:nvSpPr>
          <p:cNvPr id="68" name="Shape 66"/>
          <p:cNvSpPr/>
          <p:nvPr/>
        </p:nvSpPr>
        <p:spPr>
          <a:xfrm>
            <a:off x="2670048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715768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 Copilot</a:t>
            </a:r>
            <a:endParaRPr lang="en-US" sz="690" dirty="0"/>
          </a:p>
        </p:txBody>
      </p:sp>
      <p:sp>
        <p:nvSpPr>
          <p:cNvPr id="70" name="Text 68"/>
          <p:cNvSpPr/>
          <p:nvPr/>
        </p:nvSpPr>
        <p:spPr>
          <a:xfrm>
            <a:off x="2715768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默认关闭</a:t>
            </a:r>
            <a:endParaRPr lang="en-US" sz="610" dirty="0"/>
          </a:p>
        </p:txBody>
      </p:sp>
      <p:sp>
        <p:nvSpPr>
          <p:cNvPr id="71" name="Shape 69"/>
          <p:cNvSpPr/>
          <p:nvPr/>
        </p:nvSpPr>
        <p:spPr>
          <a:xfrm>
            <a:off x="4279392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325112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Recall截屏+Vision</a:t>
            </a:r>
            <a:endParaRPr lang="en-US" sz="690" dirty="0"/>
          </a:p>
        </p:txBody>
      </p:sp>
      <p:sp>
        <p:nvSpPr>
          <p:cNvPr id="73" name="Text 71"/>
          <p:cNvSpPr/>
          <p:nvPr/>
        </p:nvSpPr>
        <p:spPr>
          <a:xfrm>
            <a:off x="4325112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数秒一帧·opt-in·enclave</a:t>
            </a:r>
            <a:endParaRPr lang="en-US" sz="610" dirty="0"/>
          </a:p>
        </p:txBody>
      </p:sp>
      <p:sp>
        <p:nvSpPr>
          <p:cNvPr id="74" name="Shape 72"/>
          <p:cNvSpPr/>
          <p:nvPr/>
        </p:nvSpPr>
        <p:spPr>
          <a:xfrm>
            <a:off x="5888736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0A0C11"/>
          </a:solidFill>
          <a:ln w="635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934456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90" dirty="0"/>
          </a:p>
        </p:txBody>
      </p:sp>
      <p:sp>
        <p:nvSpPr>
          <p:cNvPr id="76" name="Text 74"/>
          <p:cNvSpPr/>
          <p:nvPr/>
        </p:nvSpPr>
        <p:spPr>
          <a:xfrm>
            <a:off x="5934456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无自有穿戴</a:t>
            </a:r>
            <a:endParaRPr lang="en-US" sz="610" dirty="0"/>
          </a:p>
        </p:txBody>
      </p:sp>
      <p:sp>
        <p:nvSpPr>
          <p:cNvPr id="77" name="Shape 75"/>
          <p:cNvSpPr/>
          <p:nvPr/>
        </p:nvSpPr>
        <p:spPr>
          <a:xfrm>
            <a:off x="7498080" y="3502152"/>
            <a:ext cx="1572768" cy="749808"/>
          </a:xfrm>
          <a:prstGeom prst="roundRect">
            <a:avLst>
              <a:gd name="adj" fmla="val 3659"/>
            </a:avLst>
          </a:prstGeom>
          <a:solidFill>
            <a:srgbClr val="332608"/>
          </a:solidFill>
          <a:ln w="6350">
            <a:solidFill>
              <a:srgbClr val="5C4A1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543800" y="355701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Recall行为时间线</a:t>
            </a:r>
            <a:endParaRPr lang="en-US" sz="690" dirty="0"/>
          </a:p>
        </p:txBody>
      </p:sp>
      <p:sp>
        <p:nvSpPr>
          <p:cNvPr id="79" name="Text 77"/>
          <p:cNvSpPr/>
          <p:nvPr/>
        </p:nvSpPr>
        <p:spPr>
          <a:xfrm>
            <a:off x="7543800" y="38862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全行业最激进采集</a:t>
            </a:r>
            <a:endParaRPr lang="en-US" sz="610" dirty="0"/>
          </a:p>
        </p:txBody>
      </p:sp>
      <p:sp>
        <p:nvSpPr>
          <p:cNvPr id="80" name="Shape 78"/>
          <p:cNvSpPr/>
          <p:nvPr/>
        </p:nvSpPr>
        <p:spPr>
          <a:xfrm>
            <a:off x="365760" y="4626864"/>
            <a:ext cx="8412480" cy="411480"/>
          </a:xfrm>
          <a:prstGeom prst="roundRect">
            <a:avLst>
              <a:gd name="adj" fmla="val 6667"/>
            </a:avLst>
          </a:prstGeom>
          <a:solidFill>
            <a:srgbClr val="0A1A1F"/>
          </a:solidFill>
          <a:ln w="11430">
            <a:solidFill>
              <a:srgbClr val="22D3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02920" y="462686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洞察：</a:t>
            </a:r>
            <a:pPr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三次撤退(Clippy 2007移除、Emotion API 2022下架、Recall 2024风暴后重构)塑造了「输出端拥抱情感(Appearance)、输入端回避识别」的姿态；但重构后的Recall(opt-in+Hello+enclave)证明激进行为/视觉采集可被接受——隐私工程能买回信任，这对UTM的采集层是关键先例</a:t>
            </a:r>
            <a:endParaRPr lang="en-US" sz="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竞品深析 · 汇总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四家汇总：错位、悖论与窗口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85216"/>
          </a:xfrm>
          <a:prstGeom prst="roundRect">
            <a:avLst>
              <a:gd name="adj" fmla="val 4688"/>
            </a:avLst>
          </a:prstGeom>
          <a:solidFill>
            <a:srgbClr val="0D1017"/>
          </a:solidFill>
          <a:ln w="762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1498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Google｜底座最全·情感割裂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10149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五模态L1-L2都有，情感只在①②对话内；Fitbit/Android/DeepMind组织割裂；Spark/Halo容器已建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8412480" cy="585216"/>
          </a:xfrm>
          <a:prstGeom prst="roundRect">
            <a:avLst>
              <a:gd name="adj" fmla="val 4688"/>
            </a:avLst>
          </a:prstGeom>
          <a:solidFill>
            <a:srgbClr val="0D1017"/>
          </a:solidFill>
          <a:ln w="762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7335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Apple｜哲学画界·④全栈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67335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健康框架给情绪唯一正当叙事；①③技术强但刻意止步；路线图或于2026底触碰语气理解(媒体报道)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65760" y="2276856"/>
            <a:ext cx="8412480" cy="585216"/>
          </a:xfrm>
          <a:prstGeom prst="roundRect">
            <a:avLst>
              <a:gd name="adj" fmla="val 4688"/>
            </a:avLst>
          </a:prstGeom>
          <a:solidFill>
            <a:srgbClr val="0D1017"/>
          </a:solidFill>
          <a:ln w="762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317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vivo｜意图最近·路径最远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唯一宣称「洞悉情绪」；但L4舒适响应先行、L3状态建模空心；「全域感知」架构语言最接近UTM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8412480" cy="585216"/>
          </a:xfrm>
          <a:prstGeom prst="roundRect">
            <a:avLst>
              <a:gd name="adj" fmla="val 4688"/>
            </a:avLst>
          </a:prstGeom>
          <a:solidFill>
            <a:srgbClr val="0D1017"/>
          </a:solidFill>
          <a:ln w="762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900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微软｜三次撤退·一个先例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99008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Clippy/Emotion API/Recall风暴→输出端拥抱、识别端回避；重构版Recall证明隐私工程可买回激进采集的信任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914400"/>
          </a:xfrm>
          <a:prstGeom prst="roundRect">
            <a:avLst>
              <a:gd name="adj" fmla="val 3000"/>
            </a:avLst>
          </a:prstGeom>
          <a:solidFill>
            <a:srgbClr val="0A1A1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6732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三条结构性规律：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L1强↔L3空的错位：行为采集最强的两家(Google UsageStats、微软Recall)恰恰状态推断全空  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表达/识别不对称：厂商敢做情感输出(Appearance/拟人音色)、不敢做情感识别——风险在推断不在表达  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叙事决定边界：情绪分析只在「对话」「健康」两个正当叙事内存在——UTM需要第三叙事：节奏感知</a:t>
            </a:r>
            <a:endParaRPr lang="en-US" sz="8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竞品深析 · 待补充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AI模型厂商：情感布局分析（占位）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候选：OpenAI · Anthropic · Hume · Character.AI · xAI · Inflection/微软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—— 克制派：MIT情感依赖研究·2025心理健康护栏·GPT-4o有情感语音能力但不做推断服务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4767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—— 克制派：情感支持场景明确谨慎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60904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66090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Hume / Character.AI / Replika / Pi —— 拥抱派：专职情感语音/陪伴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74136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741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共同边界：只能做对话内情感(①②)——行为数据在OS手里，结构性拿不到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待调研补充 ]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竞品深析 · 待补充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机器人Top公司：情感布局分析（占位）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候选：Tesla Optimus · Figure · 宇树 Unitree · 智元 · 1X · Boston Dynamics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具身智能的情感感知：多模态(视觉+语音+接触)天然融合场景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4767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服务/陪伴机器人 vs 工业机器人的情感需求分野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60904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66090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与手机OS的关系：状态模型可否跨设备共享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374136"/>
            <a:ext cx="8412480" cy="621792"/>
          </a:xfrm>
          <a:prstGeom prst="roundRect">
            <a:avLst>
              <a:gd name="adj" fmla="val 4412"/>
            </a:avLst>
          </a:prstGeom>
          <a:solidFill>
            <a:srgbClr val="0A0C11"/>
          </a:solidFill>
          <a:ln w="10160">
            <a:solidFill>
              <a:srgbClr val="1A1F2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741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逐家调研待做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待调研补充 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OS情感计算洞察</dc:title>
  <dc:subject>PptxGenJS Presentation</dc:subject>
  <dc:creator>PptxGenJS</dc:creator>
  <cp:lastModifiedBy>PptxGenJS</cp:lastModifiedBy>
  <cp:revision>1</cp:revision>
  <dcterms:created xsi:type="dcterms:W3CDTF">2026-06-27T06:44:57Z</dcterms:created>
  <dcterms:modified xsi:type="dcterms:W3CDTF">2026-06-27T06:44:57Z</dcterms:modified>
</cp:coreProperties>
</file>