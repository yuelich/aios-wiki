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36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OS情感计算竞品分析报告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6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Affective Computing on Mobile OS · 2026 · 基于13家公司/团队底表（核查修正版）+ 技术地图框架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3657600" cy="18288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2026 OS Platform Strategy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13家样本，无一以情绪识别为主线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solidFill>
            <a:srgbClr val="E8EEF4"/>
          </a:solidFill>
          <a:ln w="6350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4008" cy="53035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652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1200" b="1">
                <a:solidFill>
                  <a:srgbClr val="211D16"/>
                </a:solidFill>
                <a:latin typeface="Segoe UI"/>
              </a:rPr>
              <a:t>核心结论先说：</a:t>
            </a:r>
            <a:r>
              <a:rPr sz="1200" b="0">
                <a:solidFill>
                  <a:srgbClr val="6F6A5E"/>
                </a:solidFill>
                <a:latin typeface="Segoe UI"/>
              </a:rPr>
              <a:t>13家样本里，没有一家把"识别人类情绪状态"作为独立主线产品——情绪相关能力普遍是更大战略（任务执行助手、健康硬件生态、具身机器人控制）里的一条支线。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1100" b="0">
                <a:solidFill>
                  <a:srgbClr val="6F6A5E"/>
                </a:solidFill>
                <a:latin typeface="Segoe UI"/>
              </a:rPr>
              <a:t>本报告基于《OS情感计算竞品分析内容底表》13个公司/团队标签页（已完成溯源核查修正），沿用同一份材料"技术地图 PART 1"的L1-L4四层架构与五大感知模态框架，先讲清每家公司的主线任务是什么，再逐一拆解其5个模态在L1-L4每一层具体做了什么，最后给出OS厂商的机会点判断。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背景 · 定义回顾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什么是情感计算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Affective Computing 由 MIT Rosalind Picard 1997年提出，核心目标是让系统识别用户情绪状态并据此调整行为——从被动执行指令，到主动适应人的状态。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004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识别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从信号推断情绪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59" y="1828800"/>
            <a:ext cx="32004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965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建模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情绪状态内部表征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828800"/>
            <a:ext cx="320040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399" y="1965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响应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9" y="2286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自适应调整行为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本次分析沿用底表的五大感知模态划分：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20116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💬 文本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用词/语气/句式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383280"/>
            <a:ext cx="20116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🎙️ 语音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音调/节奏/语速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59" y="3383280"/>
            <a:ext cx="20116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39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👁️ 视觉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39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表情/姿态/眼动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19" y="3383280"/>
            <a:ext cx="20116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9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💓 生理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9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心率/皮电/HRV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3383280"/>
            <a:ext cx="201168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35204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14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📱 行为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9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触屏/App切换/解锁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技术地图 ·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四层架构：从信号到响应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底表按此四层结构逐一记录13家公司的特性/功能/技术点，本报告横向比较与逐家拆解也按此结构展开。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9728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L4 响应执行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2880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状态+意图+安全边界 → 回复/服务/动作。真正决定用户体感——是否有持续情绪响应，还是仅规则触发。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09728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L3 状态推断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0632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融合特征+上下文 → 情绪/意图/风险判断。多数公司把"意图推断"和"情绪推断"混用，需要仔细区分。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109728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L2 特征处理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976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多源原始信号 → 嵌入/基线/上下文表征。个人基线建模是这层的关键资产。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097280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3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L1 信号采集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53212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人/设备/环境 → 原始多模态信号流。硬件生态决定了这层的天花板。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交叉核验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474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回归Picard三大任务：谁在真正"识别用户状态"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777240"/>
          <a:ext cx="117043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2194560"/>
                <a:gridCol w="1828800"/>
                <a:gridCol w="2194560"/>
                <a:gridCol w="2194560"/>
              </a:tblGrid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公司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💬 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🎙️ 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👁️ 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💓 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📱 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OS与硬件平台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Google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Gemini生成式回复+长上下文/应用记忆，非情绪专用对话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F7A4F"/>
                          </a:solidFill>
                          <a:latin typeface="Segoe UI"/>
                        </a:rPr>
                        <a:t>有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Hume EVI韵律情绪模型识别语气并调节回复(&lt;300ms)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Lens/Circle对象场景识别+MediaPipe FaceMesh，非情绪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F7A4F"/>
                          </a:solidFill>
                          <a:latin typeface="Segoe UI"/>
                        </a:rPr>
                        <a:t>有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cEDA+HR/HRV/皮温ML分类压力/恢复，Body Response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UsageStatsManager聚合，仅规则触发无持续情绪响应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Apple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Apple模型+个人上下文推断意图，Writing Tools改写AI自身回复语气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Siri回复+App Intents意图推断，语气调节未见官方文档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Visual Intelligence屏幕/相机场景理解，非情绪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F7A4F"/>
                          </a:solidFill>
                          <a:latin typeface="Segoe UI"/>
                        </a:rPr>
                        <a:t>有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State of Mind自评心境+PHQ-9/GAD-7量表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Screen Time/DeviceActivity仅使用统计，非情绪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Samsung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云侧大模型摘要/改写意图，无具体情绪判定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云侧大模型ASR文本摘要/翻译，无情绪识别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OCR/视觉检索/XR空间理解+Imagen 2，非情绪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2F7A4F"/>
                          </a:solidFill>
                          <a:latin typeface="Segoe UI"/>
                        </a:rPr>
                        <a:t>有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Watch/Ring PPG/HRV/皮温/SpO2驱动压力趋势/Energy Score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Digital Wellbeing统计Screen time/解锁/通知，无情绪推断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Microsoft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Copilot模型路由+Work IQ上下文推断意图，非情绪导向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Azure Speech流式ASR/TTS+Copilot Voice，无情绪识别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Emotion API已于2022下架，当前仅OCR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Copilot Health仅问答/护栏，不做生理监测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Recall本地快照+OCR语义索引记忆使用行为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vivo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BlueLM意图理解/UI Agent跨App任务，未拆分情绪成分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蓝心语音全双工/降噪+对话状态管理，无具体情绪模型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OCR/图像理解+人因评估驱动舒适动效，非情绪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Watch/手机传感器采集睡眠/心率驱动AI舒眠建议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A8790A"/>
                          </a:solidFill>
                          <a:latin typeface="Segoe UI"/>
                        </a:rPr>
                        <a:t>有限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OriginOS使用/作息记录聚合场景上下文，非情绪推断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前沿大模型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OpenAI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GPT-5.5生成对话/推理，非用户情绪识别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Realtime模型语音问答，非情绪韵律分析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图像问答/结构化解释，非表情识别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健康信息问答+拒答/转介，无生理监测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网页状态/工具结果采集，非用户行为状态推断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Anthropic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Claude模型生成/推理，非用户情绪识别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移动端语音入口+TTS，无韵律情绪分析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图像问答/图表解释，非表情识别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医疗场景合规建议，无生理信号监测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Computer Use/终端浏览器状态，非用户行为画像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DeepSeek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Chat/Reasoner文本生成，无情绪识别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无官方端到端语音产品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DeepSeek-VL图文问答/识别，非表情/状态识别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无健康专用产品，无可穿戴生理信号入口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Agent工具后端兼容执行，非用户行为状态推断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Qwen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Qwen3对话生成/推理，非用户情绪识别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Omni实时语音+CosyVoice TTS，非情绪韵律分析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图像/视频理解结构化输出，非表情识别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行业应用安全策略/内容审核，无健康监测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百炼Agent/工具调用统计，非用户行为状态层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1500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Doubao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Seed文本生成/深度思考，非用户情绪识别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音频理解+TTS语音播报，非情绪韵律分析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图片/视频/文档理解，非表情识别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行业场景安全策略/内容审核，无健康监测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火山方舟Agent/Session事件流，非用户行为状态层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交叉核验 · 具身机器人 + 关键发现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474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具身机器人 + 关键发现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777240"/>
          <a:ext cx="1170432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2194560"/>
                <a:gridCol w="1828800"/>
                <a:gridCol w="2194560"/>
                <a:gridCol w="2194560"/>
              </a:tblGrid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公司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💬 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🎙️ 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👁️ 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💓 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📱 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具身机器人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65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Tesla Optimus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语言目标转任务计划，非情感对话理解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ASR/TTS任务确认与澄清，非情绪/韵律识别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多相机BEV+3D物体检测导航避障，非用户表情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IMU/关节编码器监测机器人自身姿态，非人类生理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平衡/导航/抓取运动控制栈，聚焦机器人本体执行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7183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Figure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语言目标经S2 VLM转为VLA行为序列，非情感对话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语音指令确认/状态播报，非情绪语音分析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S2 VLM场景理解+陌生物体抓取，非人脸分析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腕姿/手指/躯干/头部姿态机器人本体，非人类生理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S1视觉运动Transformer驱动200Hz全上身控制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  <a:tr h="47183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211D16"/>
                          </a:solidFill>
                          <a:latin typeface="Segoe UI"/>
                        </a:defRPr>
                      </a:pPr>
                      <a:r>
                        <a:t>Unitree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语义指令映射运动技能，依赖外接LLM/SDK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ASR/TTS由开发者/上层应用接入，非官方情绪语音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深度相机+LiDAR障碍/物体识别导航避障，非人脸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IMU/关节编码器监测机器人本体安全，非人类生理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1">
                          <a:solidFill>
                            <a:srgbClr val="7A7466"/>
                          </a:solidFill>
                          <a:latin typeface="Segoe UI"/>
                        </a:rPr>
                        <a:t>无 </a:t>
                      </a:r>
                      <a:r>
                        <a:rPr sz="700" b="0">
                          <a:solidFill>
                            <a:srgbClr val="6F6A5E"/>
                          </a:solidFill>
                          <a:latin typeface="Segoe UI"/>
                        </a:rPr>
                        <a:t>全身控制+步态库+RL/模仿学习，聚焦机器人运动执行</a:t>
                      </a:r>
                    </a:p>
                  </a:txBody>
                  <a:tcPr anchor="t" marL="25400" marR="2540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3246120"/>
            <a:ext cx="11612880" cy="3474720"/>
          </a:xfrm>
          <a:prstGeom prst="rect">
            <a:avLst/>
          </a:prstGeom>
          <a:solidFill>
            <a:srgbClr val="E8EEF4"/>
          </a:solidFill>
          <a:ln w="6350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3246120"/>
            <a:ext cx="64008" cy="347472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92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900" b="1">
                <a:solidFill>
                  <a:srgbClr val="211D16"/>
                </a:solidFill>
                <a:latin typeface="Segoe UI"/>
              </a:rPr>
              <a:t>关键发现：</a:t>
            </a:r>
            <a:r>
              <a:rPr sz="800" b="0">
                <a:solidFill>
                  <a:srgbClr val="6F6A5E"/>
                </a:solidFill>
                <a:latin typeface="Segoe UI"/>
              </a:rPr>
              <a:t>视觉模态13家全部不把"识别用户表情/情绪"作为在售能力(Microsoft Emotion API 2022已下架)；生理状态分析仅Google/Apple/Samsung真正做到，vivo有限；语音情绪识别仅Google一家(联合Hume AI)；行为信号采集OS五家覆盖面最广但无一升级为情绪推断；文本"情绪判断"易与"意图判断"混淆，仅Google/vivo有含糊表述。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OS与硬件平台 · Google · Apple · Samsung · Microsoft ·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让Gemini理解多模态上下文，驱动搜索/助手/Agent任务执行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Google主线是让Gemini看到文本、语音、屏幕、相机上下文后帮用户完成搜索、解释、导航、调用服务和Agent任务。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健康/压力监测(Body Response)和语音韵律(Hume EVI)是情感相关支线，服务于上下文理解与助手任务完成，而非持续情感分析。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Gemini生成式回复+工具/应用入口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eLLM情感语音合成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视觉上下文触发搜索/AR提示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引导呼吸·压力提醒推送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云端Agent(Antigravity)+状态UI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对话语义+任务意图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韵律分析·&lt;300ms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多模态视觉模型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cEDA+HR/HRV/皮温·ML分类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仅Pause Point规则触发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长上下文/模型路由+应用记忆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prosody声学特征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MediaPipe FaceMesh/blendshapes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首月基线学习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日/周/月/年聚合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输入文本/附件/会话上下文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麦克风流(交互时)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相机+Lens/Circle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cEDA/PPG/皮温传感器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UsageStatsManager API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⤭ Gemini app + EVI情感语音：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文本/语音L4共享入口 ⤭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Gemini对话与任务意图：</a:t>
            </a:r>
            <a:r>
              <a:rPr sz="800" b="0">
                <a:solidFill>
                  <a:srgbClr val="6F6A5E"/>
                </a:solidFill>
                <a:latin typeface="Segoe UI"/>
              </a:rPr>
              <a:t>长上下文、模型路由、语义推理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Hume情感语音技术栈：</a:t>
            </a:r>
            <a:r>
              <a:rPr sz="800" b="0">
                <a:solidFill>
                  <a:srgbClr val="6F6A5E"/>
                </a:solidFill>
                <a:latin typeface="Segoe UI"/>
              </a:rPr>
              <a:t>韵律分析、声学特征、麦克风采集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Android XR / Lens / Circle：</a:t>
            </a:r>
            <a:r>
              <a:rPr sz="800" b="0">
                <a:solidFill>
                  <a:srgbClr val="6F6A5E"/>
                </a:solidFill>
                <a:latin typeface="Segoe UI"/>
              </a:rPr>
              <a:t>视觉上下文触发搜索/AR，全链路非情绪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Body Response压力检测：</a:t>
            </a:r>
            <a:r>
              <a:rPr sz="800" b="0">
                <a:solidFill>
                  <a:srgbClr val="6F6A5E"/>
                </a:solidFill>
                <a:latin typeface="Segoe UI"/>
              </a:rPr>
              <a:t>cEDA/HR/HRV/皮温驱动的Health干预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Spark/Halo规则触发：</a:t>
            </a:r>
            <a:r>
              <a:rPr sz="800" b="0">
                <a:solidFill>
                  <a:srgbClr val="6F6A5E"/>
                </a:solidFill>
                <a:latin typeface="Segoe UI"/>
              </a:rPr>
              <a:t>仅规则触发，无持续情绪响应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4D15"/>
                </a:solidFill>
                <a:latin typeface="Segoe UI"/>
              </a:rPr>
              <a:t>使用统计聚合：</a:t>
            </a:r>
            <a:r>
              <a:rPr sz="800" b="0">
                <a:solidFill>
                  <a:srgbClr val="6F6A5E"/>
                </a:solidFill>
                <a:latin typeface="Segoe UI"/>
              </a:rPr>
              <a:t>UsageStatsManager日/周/月/年聚合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OS与硬件平台 · Google · Apple · Samsung · Microsoft ·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Apple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端侧隐私AI：创作辅助、个人上下文、跨App动作调度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Apple的AI主线是端侧隐私、个人上下文、创作辅助与跨App动作，以Apple自研基础模型+Private Cloud Compute为核心叙事。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情感计算被安放在Health/State of Mind独立入口，作为心境自评与健康趋势的隐私反馈闭环，是AI主线之外的支线功能。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Writing Tools改写语气/风格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Siri回复；语速/口音辅助功能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相机/屏幕提问触发动作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心境量表结果+Health趋势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Apple模型+个人上下文；ChatGPT可选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App Intents+个人上下文检索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屏幕感知+场景/对象理解(非情绪)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自评心境+PHQ-9/GAD-7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端侧模型+PCC/第三方路由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端侧Dictation/Siri语音模型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深度估计+对象分割/生成编辑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睡眠/活动/日照/正念关联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Screen Time使用统计(非情绪)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选中文本/键盘/App上下文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麦克风/Siri/听写输入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Photos/相机/屏幕/空间场景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心境记录+Watch健康传感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DeviceActivity事件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Writing Tools改写语气：</a:t>
            </a:r>
            <a:r>
              <a:rPr sz="800" b="0">
                <a:solidFill>
                  <a:srgbClr val="6F6A5E"/>
                </a:solidFill>
                <a:latin typeface="Segoe UI"/>
              </a:rPr>
              <a:t>端侧模型+PCC路由，全链路文本情感化回应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Siri情感化响应链路：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App Intents+端侧Dictation/Siri语音模型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Visual Intelligence入口：</a:t>
            </a:r>
            <a:r>
              <a:rPr sz="800" b="0">
                <a:solidFill>
                  <a:srgbClr val="6F6A5E"/>
                </a:solidFill>
                <a:latin typeface="Segoe UI"/>
              </a:rPr>
              <a:t>相机/屏幕提问触发动作，非情绪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Photos Clean Up / Image Playground：</a:t>
            </a:r>
            <a:r>
              <a:rPr sz="800" b="0">
                <a:solidFill>
                  <a:srgbClr val="6F6A5E"/>
                </a:solidFill>
                <a:latin typeface="Segoe UI"/>
              </a:rPr>
              <a:t>深度估计+对象分割/生成编辑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State of Mind心境记录：</a:t>
            </a:r>
            <a:r>
              <a:rPr sz="800" b="0">
                <a:solidFill>
                  <a:srgbClr val="6F6A5E"/>
                </a:solidFill>
                <a:latin typeface="Segoe UI"/>
              </a:rPr>
              <a:t>自评心境+PHQ-9/GAD-7+Watch健康传感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Screen Time使用统计：</a:t>
            </a:r>
            <a:r>
              <a:rPr sz="800" b="0">
                <a:solidFill>
                  <a:srgbClr val="6F6A5E"/>
                </a:solidFill>
                <a:latin typeface="Segoe UI"/>
              </a:rPr>
              <a:t>DeviceActivity事件，官方标注非情绪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Apple情感相关能力集中于生理列State of Mind，未与其他模态形成联动。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OS与硬件平台 · Google · Apple · Samsung · Microsoft ·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Samsung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Galaxy AI硬件+Google模型协同的系统落地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Samsung优势在硬件健康生态与Galaxy AI系统落地，模型层明显依赖Google——文本摘要/改写用Gemini Pro/Nano，图像编辑用Imagen 2。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Samsung Health承担压力/恢复/Energy Score等情感相关健康反馈闭环，是硬件健康生态下的支线角色。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Writing Assist生成/风格改写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转写后摘要/翻译输出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圈选搜索/AI Overviews/编辑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Energy Score解释+Wellness Tips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云侧大模型摘要/改写意图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云侧大模型ASR文本摘要/翻译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OCR/视觉检索/XR空间理解(非情绪)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压力趋势/睡眠恢复评分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Notes/Messages上下文+Gemini路由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录音转写管线+模型摘要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Imagen 2生成编辑+视觉检索嵌入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HRV/睡眠/活动/心率基线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Screen time/Open count/通知统计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选中文本/键盘/Notes上下文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Phone/Recorder麦克风音频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Gallery/Camera/圈选区域/XR眼镜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Watch/Ring PPG/HRV/皮温/SpO2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UsageStats/解锁/通知系统日志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Galaxy AI: Writing Assist：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文本生成/风格改写+云侧摘要意图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Galaxy AI: Transcript Assist：</a:t>
            </a:r>
            <a:r>
              <a:rPr sz="800" b="0">
                <a:solidFill>
                  <a:srgbClr val="6F6A5E"/>
                </a:solidFill>
                <a:latin typeface="Segoe UI"/>
              </a:rPr>
              <a:t>转写后摘要/翻译，录音转写管线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Galaxy AI: Circle / Android XR：</a:t>
            </a:r>
            <a:r>
              <a:rPr sz="800" b="0">
                <a:solidFill>
                  <a:srgbClr val="6F6A5E"/>
                </a:solidFill>
                <a:latin typeface="Segoe UI"/>
              </a:rPr>
              <a:t>圈选搜索/AI Overviews，OCR视觉检索非情绪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Galaxy AI: Photo Assist：</a:t>
            </a:r>
            <a:r>
              <a:rPr sz="800" b="0">
                <a:solidFill>
                  <a:srgbClr val="6F6A5E"/>
                </a:solidFill>
                <a:latin typeface="Segoe UI"/>
              </a:rPr>
              <a:t>Imagen 2生成编辑+相机/XR眼镜采集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Samsung Health能量分数：</a:t>
            </a:r>
            <a:r>
              <a:rPr sz="800" b="0">
                <a:solidFill>
                  <a:srgbClr val="6F6A5E"/>
                </a:solidFill>
                <a:latin typeface="Segoe UI"/>
              </a:rPr>
              <a:t>Energy Score/压力趋势+Watch/Ring传感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Digital Wellbeing统计：</a:t>
            </a:r>
            <a:r>
              <a:rPr sz="800" b="0">
                <a:solidFill>
                  <a:srgbClr val="6F6A5E"/>
                </a:solidFill>
                <a:latin typeface="Segoe UI"/>
              </a:rPr>
              <a:t>Screen time/解锁/通知系统日志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Galaxy AI品牌下各技术路径互相独立，分别依赖不同底层模型。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OS与硬件平台 · Google · Apple · Samsung · Microsoft ·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M365 Copilot生产力助手 + Windows Recall效率回溯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Microsoft的AI主线是围绕M365/Windows的生产力效率与上下文任务执行(Copilot/Recall/Click to Do)，核心是效率与本地/云端上下文记忆。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历史上Clippy与Emotion API是"行为/视觉情绪识别"的两次失败尝试，当前Copilot Voice/Health仅承担克制的支线角色。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M365内容生成/摘要/分析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Copilot Voice实时对话/TTS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屏幕内容识别后建议动作(Emotion API已下架)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Copilot Health问答/就医导航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Copilot模型路由+Work IQ上下文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语音转文本后Copilot推理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Emotion API 2015→2022下架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健康问答护栏，不做生理监测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Microsoft Graph/权限/连接器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Azure Speech流式ASR/TTS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OCR+本地语义索引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用户输入/健康资料连接器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本地快照+OCR语义索引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M365文档/邮件/会议/聊天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Copilot应用麦克风输入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屏幕快照/截图OCR；不看脸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无PC原生连续传感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Recall本地快照+OCR索引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Microsoft 365 Copilot：</a:t>
            </a:r>
            <a:r>
              <a:rPr sz="800" b="0">
                <a:solidFill>
                  <a:srgbClr val="6F6A5E"/>
                </a:solidFill>
                <a:latin typeface="Segoe UI"/>
              </a:rPr>
              <a:t>M365内容生成/摘要/分析+Graph权限连接器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Copilot Voice：</a:t>
            </a:r>
            <a:r>
              <a:rPr sz="800" b="0">
                <a:solidFill>
                  <a:srgbClr val="6F6A5E"/>
                </a:solidFill>
                <a:latin typeface="Segoe UI"/>
              </a:rPr>
              <a:t>实时对话/TTS，Azure Speech流式ASR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⤭ Click to Do / Recall ⤭：</a:t>
            </a:r>
            <a:r>
              <a:rPr sz="800" b="0">
                <a:solidFill>
                  <a:srgbClr val="6F6A5E"/>
                </a:solidFill>
                <a:latin typeface="Segoe UI"/>
              </a:rPr>
              <a:t>视觉OCR+本地语义索引 与 行为本地快照+OCR索引，跨两模态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Emotion API历史：</a:t>
            </a:r>
            <a:r>
              <a:rPr sz="800" b="0">
                <a:solidFill>
                  <a:srgbClr val="6F6A5E"/>
                </a:solidFill>
                <a:latin typeface="Segoe UI"/>
              </a:rPr>
              <a:t>2015→2022下架，与Click to Do无直接关联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屏幕截图OCR采集：</a:t>
            </a:r>
            <a:r>
              <a:rPr sz="800" b="0">
                <a:solidFill>
                  <a:srgbClr val="6F6A5E"/>
                </a:solidFill>
                <a:latin typeface="Segoe UI"/>
              </a:rPr>
              <a:t>通用图像采集层，"不看脸"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Copilot Health问答导航：</a:t>
            </a:r>
            <a:r>
              <a:rPr sz="800" b="0">
                <a:solidFill>
                  <a:srgbClr val="6F6A5E"/>
                </a:solidFill>
                <a:latin typeface="Segoe UI"/>
              </a:rPr>
              <a:t>健康问答护栏，明确不做生理监测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OS与硬件平台 · Google · Apple · Samsung · Microsoft ·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蓝心大模型驱动OriginOS的"人因舒适工程"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vivo重点不是直接做情绪识别，而是把"舒适工程/人因体验"落实到视觉、音频、触觉、睡眠与系统动效，蓝心大模型和小V负责入口与任务编排。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情感相关性来自降低认知负荷、减少感官不适和提升系统体验温度这一支线目标，而非直接的情绪识别能力。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蓝心小V跨App任务执行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小V对话/TTS舒适播报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舒适动效/圈搜服务卡片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睡眠建议+舒适参数提醒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BlueLM意图理解/UI Agent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蓝心语音模型+对话状态管理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OCR/图像理解+人因评估(非情绪)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睡眠阶段/作息/压力趋势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文本上下文+原子能力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全双工/降噪/中断检测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光影/字体/色彩/动效参数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睡眠/心率/活动/偏好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作息/使用记录/场景聚合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键盘/选中文本/App上下文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手机/车机麦克风阵列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截屏/相册/相机像素输入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Watch/手机传感器/睡眠记录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系统日志/日程/位置/设备状态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⤭ 蓝心小V任务入口 ⤭：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文本/语音L4共享的"小V"品牌与BlueLM统一入口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BlueLM意图与上下文：</a:t>
            </a:r>
            <a:r>
              <a:rPr sz="800" b="0">
                <a:solidFill>
                  <a:srgbClr val="6F6A5E"/>
                </a:solidFill>
                <a:latin typeface="Segoe UI"/>
              </a:rPr>
              <a:t>意图理解/UI Agent+文本上下文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蓝心语音识别链路：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对话状态管理+全双工降噪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OriginOS舒适工程 / 小V圈搜：</a:t>
            </a:r>
            <a:r>
              <a:rPr sz="800" b="0">
                <a:solidFill>
                  <a:srgbClr val="6F6A5E"/>
                </a:solidFill>
                <a:latin typeface="Segoe UI"/>
              </a:rPr>
              <a:t>舒适动效/圈搜卡片，OCR人因评估非情绪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相册AI消除 / 蓝心视觉：</a:t>
            </a:r>
            <a:r>
              <a:rPr sz="800" b="0">
                <a:solidFill>
                  <a:srgbClr val="6F6A5E"/>
                </a:solidFill>
                <a:latin typeface="Segoe UI"/>
              </a:rPr>
              <a:t>光影/字体/色彩动效参数编码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vivo健康 / AI舒眠：</a:t>
            </a:r>
            <a:r>
              <a:rPr sz="800" b="0">
                <a:solidFill>
                  <a:srgbClr val="6F6A5E"/>
                </a:solidFill>
                <a:latin typeface="Segoe UI"/>
              </a:rPr>
              <a:t>睡眠建议+Watch/手机传感器全链路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4D15"/>
                </a:solidFill>
                <a:latin typeface="Segoe UI"/>
              </a:rPr>
              <a:t>OriginOS使用与作息服务：</a:t>
            </a:r>
            <a:r>
              <a:rPr sz="800" b="0">
                <a:solidFill>
                  <a:srgbClr val="6F6A5E"/>
                </a:solidFill>
                <a:latin typeface="Segoe UI"/>
              </a:rPr>
              <a:t>作息/使用记录/系统日志聚合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前沿大模型 · OpenAI · Anthropic · DeepSeek · Qwen · Doubao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OpenAI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全模态通用助手 + Agent/工具自动执行任务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OpenAI核心叙事是打造多模态通用助手，并通过ChatGPT Agent实现工具/浏览器层面的任务执行自动化。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安全边界体现为拒答/转介策略与健康信息问答，未见面向"情绪状态"识别的独立产品线，情感计算支线基本缺失。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GPT-5.5/推理模型生成对话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Realtime模型+TTS/轮次管理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图像问答/结构化解释/检索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健康信息回答+拒答/转介策略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GPT-5.5/推理模型+工具调用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GPT realtime端到端音频模型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GPT多模态视觉编码+推理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医疗/心理健康政策与分类器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长上下文/文件/记忆/检索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流式ASR/VAD/语音合成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图像生成模型/编辑管线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用户文本/文件/可选连接器数据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ChatGPT Agent浏览器+工具调用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文本/文件/代码/网页上下文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WebRTC/WebSocket麦克风流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上传图像/截图/相机输入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用户主动输入/上传资料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网页状态/工具结果/连接器上下文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ChatGPT / GPT-5.5对话：</a:t>
            </a:r>
            <a:r>
              <a:rPr sz="800" b="0">
                <a:solidFill>
                  <a:srgbClr val="6F6A5E"/>
                </a:solidFill>
                <a:latin typeface="Segoe UI"/>
              </a:rPr>
              <a:t>推理模型生成对话+工具调用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长上下文处理：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文件/记忆/检索，文本输入采集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Realtime语音链路：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端到端音频模型全链路(L4-L1)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Vision图像理解：</a:t>
            </a:r>
            <a:r>
              <a:rPr sz="800" b="0">
                <a:solidFill>
                  <a:srgbClr val="6F6A5E"/>
                </a:solidFill>
                <a:latin typeface="Segoe UI"/>
              </a:rPr>
              <a:t>图像问答/结构化解释+多模态编码推理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Image Generation：</a:t>
            </a:r>
            <a:r>
              <a:rPr sz="800" b="0">
                <a:solidFill>
                  <a:srgbClr val="6F6A5E"/>
                </a:solidFill>
                <a:latin typeface="Segoe UI"/>
              </a:rPr>
              <a:t>图像生成模型/编辑管线+图像采集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Health &amp; Wellness安全护栏：</a:t>
            </a:r>
            <a:r>
              <a:rPr sz="800" b="0">
                <a:solidFill>
                  <a:srgbClr val="6F6A5E"/>
                </a:solidFill>
                <a:latin typeface="Segoe UI"/>
              </a:rPr>
              <a:t>健康信息问答+拒答/转介策略全链路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4D15"/>
                </a:solidFill>
                <a:latin typeface="Segoe UI"/>
              </a:rPr>
              <a:t>ChatGPT Agent工具执行：</a:t>
            </a:r>
            <a:r>
              <a:rPr sz="800" b="0">
                <a:solidFill>
                  <a:srgbClr val="6F6A5E"/>
                </a:solidFill>
                <a:latin typeface="Segoe UI"/>
              </a:rPr>
              <a:t>浏览器控制+工具调用/连接器上下文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未发现同一命名特性跨多个模态列出现的情况。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前沿大模型 · OpenAI · Anthropic · DeepSeek · Qwen · Doubao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Anthropic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长上下文安全推理 + 企业级Agent工具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Anthropic强调长上下文安全推理与企业级Agent工具能力(Claude Code/MCP/Computer Use)。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语音/视觉是交互入口而非情感识别，医疗场景偏企业合规与安全护栏，情感计算支线基本缺失。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Claude模型生成/推理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移动端语音输入+文本回答/TTS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图像问答/图表解释/文本提取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医疗场景合规建议/风险提示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Claude Fable/Opus/Sonnet路由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语音转文本后Claude推理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Claude Vision图像编码+推理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Constitutional AI/企业护栏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长上下文/Projects/文件检索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移动端ASR/语音入口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Artifacts/代码执行/结构化输出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用户资料/企业知识库/连接器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Claude Code/MCP/Computer Use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文本/文件/企业连接器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Claude移动App麦克风输入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上传图像/PDF/截图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用户输入/授权文档资料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本地文件/终端/浏览器状态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Claude对话响应：</a:t>
            </a:r>
            <a:r>
              <a:rPr sz="800" b="0">
                <a:solidFill>
                  <a:srgbClr val="6F6A5E"/>
                </a:solidFill>
                <a:latin typeface="Segoe UI"/>
              </a:rPr>
              <a:t>模型生成/推理+Fable/Opus/Sonnet路由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长上下文/Projects处理：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文件检索+文本/企业连接器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Claude移动端语音：</a:t>
            </a:r>
            <a:r>
              <a:rPr sz="800" b="0">
                <a:solidFill>
                  <a:srgbClr val="6F6A5E"/>
                </a:solidFill>
                <a:latin typeface="Segoe UI"/>
              </a:rPr>
              <a:t>移动端语音输入+ASR全链路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Claude Vision理解：</a:t>
            </a:r>
            <a:r>
              <a:rPr sz="800" b="0">
                <a:solidFill>
                  <a:srgbClr val="6F6A5E"/>
                </a:solidFill>
                <a:latin typeface="Segoe UI"/>
              </a:rPr>
              <a:t>图像问答/图表解释+图像编码推理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Artifacts/文档处理：</a:t>
            </a:r>
            <a:r>
              <a:rPr sz="800" b="0">
                <a:solidFill>
                  <a:srgbClr val="6F6A5E"/>
                </a:solidFill>
                <a:latin typeface="Segoe UI"/>
              </a:rPr>
              <a:t>代码执行/结构化输出+图像/PDF采集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医疗合规安全护栏：</a:t>
            </a:r>
            <a:r>
              <a:rPr sz="800" b="0">
                <a:solidFill>
                  <a:srgbClr val="6F6A5E"/>
                </a:solidFill>
                <a:latin typeface="Segoe UI"/>
              </a:rPr>
              <a:t>Constitutional AI+企业知识库/连接器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4D15"/>
                </a:solidFill>
                <a:latin typeface="Segoe UI"/>
              </a:rPr>
              <a:t>Claude Code/MCP工具执行：</a:t>
            </a:r>
            <a:r>
              <a:rPr sz="800" b="0">
                <a:solidFill>
                  <a:srgbClr val="6F6A5E"/>
                </a:solidFill>
                <a:latin typeface="Segoe UI"/>
              </a:rPr>
              <a:t>Computer Use+本地文件/终端/浏览器状态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各命名特性均单列出现，未发现跨模态列证据。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前沿大模型 · OpenAI · Anthropic · DeepSeek · Qwen · Doubao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DeepSeek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R1开源推理模型 + 低成本兼容API生态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DeepSeek聚焦推理模型能力与开源生态(R1/GRPO路线及开源蒸馏权重分发)及API效率。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官方公开资料未见端到端语音产品或健康类应用，情感计算相关布局证据不足，支线基本不存在。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DeepSeek Chat/Reasoner生成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无官方端到端语音产品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DeepSeek-VL图文问答/识别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通用模型边界/无专用健康产品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R1强化学习推理/GRPO路线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依赖外部ASR转文本后推理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视觉编码器+LLM对齐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内容安全与敏感问题过滤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OpenAI/Anthropic兼容API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公开API未主打ASR/TTS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R1蒸馏/Qwen/Llama系开源权重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用户输入文本/代码/图像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Claude Code/GitHub Copilot等后端兼容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文本/代码/工具上下文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第三方前端采集后转文本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图像/文本提示/API请求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无可穿戴/生理信号入口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Agent工具传入上下文/调用结果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DeepSeek Chat/Reasoner推理链路：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R1强化学习推理/GRPO+兼容API全链路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DeepSeek-VL图文理解：</a:t>
            </a:r>
            <a:r>
              <a:rPr sz="800" b="0">
                <a:solidFill>
                  <a:srgbClr val="6F6A5E"/>
                </a:solidFill>
                <a:latin typeface="Segoe UI"/>
              </a:rPr>
              <a:t>视觉编码器+LLM对齐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开源蒸馏模型分发：</a:t>
            </a:r>
            <a:r>
              <a:rPr sz="800" b="0">
                <a:solidFill>
                  <a:srgbClr val="6F6A5E"/>
                </a:solidFill>
                <a:latin typeface="Segoe UI"/>
              </a:rPr>
              <a:t>R1蒸馏/Qwen/Llama系开源权重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API兼容语音链路：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无官方端到端语音产品，依赖第三方前端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安全与使用边界：</a:t>
            </a:r>
            <a:r>
              <a:rPr sz="800" b="0">
                <a:solidFill>
                  <a:srgbClr val="6F6A5E"/>
                </a:solidFill>
                <a:latin typeface="Segoe UI"/>
              </a:rPr>
              <a:t>通用模型边界，无专用健康产品/可穿戴入口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Agent工具兼容：</a:t>
            </a:r>
            <a:r>
              <a:rPr sz="800" b="0">
                <a:solidFill>
                  <a:srgbClr val="6F6A5E"/>
                </a:solidFill>
                <a:latin typeface="Segoe UI"/>
              </a:rPr>
              <a:t>Claude Code/GitHub Copilot等后端兼容执行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文本L3"R1强化学习推理"与视觉L2"R1蒸馏"方向不同，未强行合并。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前沿大模型 · OpenAI · Anthropic · DeepSeek · Qwen · Doubao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Qwen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阿里云百炼多模态开源模型矩阵 + Agent生态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Qwen通过Qwen3-Omni覆盖语音/视觉多模态能力，并依托阿里云百炼平台构建工具生态。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情感计算未形成独立状态服务，百炼Agent/工具调用止步于任务执行统计，无情绪状态层，支线基本缺失。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Qwen3模型生成/推理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Qwen Omni实时语音+CosyVoice TTS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图像/视频理解与结构化结果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行业应用安全策略/内容审核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千问推理模型+长上下文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Qwen3-Omni音频/语音理解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Qwen-VL/Omni多模态编码推理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模型安全对齐/领域边界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百炼API/向量/重排序/缓存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fun-asr/omni实时ASR与语音转语音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Qwen Image/Wan扩散/视频模型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知识库/文件/结构化数据接入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百炼Agent/MCP/Function Calling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文本/文件/知识库/API请求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麦克风流/音频文件/API输入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图片/视频帧/音视频输入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用户输入/业务系统数据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工具调用结果/知识库检索日志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Qwen3对话推理链路：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模型生成/推理+百炼API向量重排序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⤭ Qwen3-Omni跨模态理解 ⤭：</a:t>
            </a:r>
            <a:r>
              <a:rPr sz="800" b="0">
                <a:solidFill>
                  <a:srgbClr val="6F6A5E"/>
                </a:solidFill>
                <a:latin typeface="Segoe UI"/>
              </a:rPr>
              <a:t>语音全链路+视觉理解层均由Omni底座驱动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Qwen Image/Wan生成：</a:t>
            </a:r>
            <a:r>
              <a:rPr sz="800" b="0">
                <a:solidFill>
                  <a:srgbClr val="6F6A5E"/>
                </a:solidFill>
                <a:latin typeface="Segoe UI"/>
              </a:rPr>
              <a:t>图像视频生成，与Omni理解模型为不同模型线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医疗/安全应用边界：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行业应用安全策略/内容审核全链路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百炼Agent / 工具调用：</a:t>
            </a:r>
            <a:r>
              <a:rPr sz="800" b="0">
                <a:solidFill>
                  <a:srgbClr val="6F6A5E"/>
                </a:solidFill>
                <a:latin typeface="Segoe UI"/>
              </a:rPr>
              <a:t>MCP/Function Calling+检索日志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前沿大模型 · OpenAI · Anthropic · DeepSeek · Qwen · Doubao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Doubao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火山引擎Ark平台的消费端语音/图像/视频生成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豆包依托火山引擎Ark平台，强在消费端助手体验，尤其是语音交互与图像/视频生成。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综合能力强但未见系统级情绪状态层，安全边界聚焦内容合规而非健康状态监测，情感计算支线基本缺失。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Doubao Seed文本生成/深度思考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音频理解+TTS/语音播报模型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图片/视频/文档理解结构化输出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行业场景安全策略/内容审核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Seed模型+Responses API推理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音频理解模型+语义推理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多模态理解/视觉定位Grounding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模型安全对齐/敏感内容控制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文件/知识库/上下文缓存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ASR/音频理解/语音合成服务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Seedream/Seedance生成模型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知识库/联网内容/文件上下文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联网插件/知识库/MCP/Function Calling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文本/文件/联网内容/API请求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麦克风流/音频文件/API输入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图片/视频帧/文档页输入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用户输入/业务系统数据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工具调用结果/Session事件流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Doubao Seed对话推理链路：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文本生成/深度思考+Responses API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语音理解与合成链路：</a:t>
            </a:r>
            <a:r>
              <a:rPr sz="800" b="0">
                <a:solidFill>
                  <a:srgbClr val="6F6A5E"/>
                </a:solidFill>
                <a:latin typeface="Segoe UI"/>
              </a:rPr>
              <a:t>音频理解+TTS/语音播报全链路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图片/视频/文档理解：</a:t>
            </a:r>
            <a:r>
              <a:rPr sz="800" b="0">
                <a:solidFill>
                  <a:srgbClr val="6F6A5E"/>
                </a:solidFill>
                <a:latin typeface="Segoe UI"/>
              </a:rPr>
              <a:t>多模态理解/视觉定位Grounding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Seedream / Seedance生成：</a:t>
            </a:r>
            <a:r>
              <a:rPr sz="800" b="0">
                <a:solidFill>
                  <a:srgbClr val="6F6A5E"/>
                </a:solidFill>
                <a:latin typeface="Segoe UI"/>
              </a:rPr>
              <a:t>图像/视频生成模型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安全与行业应用边界：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行业场景安全策略/内容审核全链路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火山方舟Agent / Tools：</a:t>
            </a:r>
            <a:r>
              <a:rPr sz="800" b="0">
                <a:solidFill>
                  <a:srgbClr val="6F6A5E"/>
                </a:solidFill>
                <a:latin typeface="Segoe UI"/>
              </a:rPr>
              <a:t>联网插件/MCP/Function Calling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未发现跨模态共享同一命名特性的证据。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具身机器人 · Tesla Optimus · Figure · Unitree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Tesla Optimus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感知-规划-动作闭环的通用人形机器人基础模型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Optimus技术重心是视觉感知、本体状态估计与全身运动控制的闭环，语言/语音仅是任务下达入口。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情感计算在Optimus体系中基本缺位——生理列服务于机器人自身执行安全监控，行为列服务于全身控制。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语言目标→任务计划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ASR/TTS+确认澄清轮次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语义分割/目标检测/深度估计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平衡/碰撞/执行状态监控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大模型任务分解+约束检查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指令解析+任务参数抽取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多相机BEV+3D物体预测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本体估计/力矩/姿态/故障检测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环境状态+任务历史+安全规则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麦克风阵列/噪声抑制/ASR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世界表征+轨迹规划/避障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IMU/关节编码器/力控/视觉融合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运动控制栈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语音/文本指令/远程任务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机身麦克风/遥控端音频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机器人相机/传感器流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关节/IMU/触觉/电机电流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实时控制回路/传感反馈/HIL评测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Optimus自然语言任务：</a:t>
            </a:r>
            <a:r>
              <a:rPr sz="800" b="0">
                <a:solidFill>
                  <a:srgbClr val="6F6A5E"/>
                </a:solidFill>
                <a:latin typeface="Segoe UI"/>
              </a:rPr>
              <a:t>语言目标转任务计划+任务分解约束检查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语音交互入口：</a:t>
            </a:r>
            <a:r>
              <a:rPr sz="800" b="0">
                <a:solidFill>
                  <a:srgbClr val="6F6A5E"/>
                </a:solidFill>
                <a:latin typeface="Segoe UI"/>
              </a:rPr>
              <a:t>ASR/TTS+指令解析全链路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视觉感知网络：</a:t>
            </a:r>
            <a:r>
              <a:rPr sz="800" b="0">
                <a:solidFill>
                  <a:srgbClr val="6F6A5E"/>
                </a:solidFill>
                <a:latin typeface="Segoe UI"/>
              </a:rPr>
              <a:t>语义分割/目标检测+多相机BEV/3D物体预测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世界模型规划：</a:t>
            </a:r>
            <a:r>
              <a:rPr sz="800" b="0">
                <a:solidFill>
                  <a:srgbClr val="6F6A5E"/>
                </a:solidFill>
                <a:latin typeface="Segoe UI"/>
              </a:rPr>
              <a:t>世界表征+轨迹规划/避障+相机传感器流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传感与本体状态：</a:t>
            </a:r>
            <a:r>
              <a:rPr sz="800" b="0">
                <a:solidFill>
                  <a:srgbClr val="6F6A5E"/>
                </a:solidFill>
                <a:latin typeface="Segoe UI"/>
              </a:rPr>
              <a:t>平衡/碰撞监控+IMU/关节编码器全链路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运动控制栈：</a:t>
            </a:r>
            <a:r>
              <a:rPr sz="800" b="0">
                <a:solidFill>
                  <a:srgbClr val="6F6A5E"/>
                </a:solidFill>
                <a:latin typeface="Segoe UI"/>
              </a:rPr>
              <a:t>实时控制回路+传感反馈/HIL评测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具身机器人 · Tesla Optimus · Figure · Unitree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Figure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Helix架构：语言→高频(200Hz)精细动作控制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Figure的Helix架构把语言、视觉与高频动作控制打通，本体/触觉反馈服务于执行稳定性而非情绪判断。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情感计算在Figure体系中基本缺位——本体/触觉反馈用于执行稳定性而非情绪识别。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语言目标→VLA行为序列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语音指令确认/任务状态播报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陌生物体识别+抓取目标选择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任务完成度/碰撞/动作稳定性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57564C"/>
                          </a:solidFill>
                          <a:latin typeface="Segoe UI"/>
                        </a:defRPr>
                      </a:pPr>
                      <a:r>
                        <a:t>S2 VLM 7-9Hz场景/语言理解</a:t>
                      </a:r>
                    </a:p>
                  </a:txBody>
                  <a:tcPr anchor="t" marL="25400" marR="25400" marT="19050" marB="19050">
                    <a:solidFill>
                      <a:srgbClr val="E3E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ASR后进入Helix语言条件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S2开源VLM+机载相机状态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腕姿/手指/躯干/头部姿态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57564C"/>
                          </a:solidFill>
                          <a:latin typeface="Segoe UI"/>
                        </a:defRPr>
                      </a:pPr>
                      <a:r>
                        <a:t>S2语义latent→S1传递</a:t>
                      </a:r>
                    </a:p>
                  </a:txBody>
                  <a:tcPr anchor="t" marL="25400" marR="25400" marT="19050" marB="19050">
                    <a:solidFill>
                      <a:srgbClr val="E3E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语音转文本/指令抽取前端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57564C"/>
                          </a:solidFill>
                          <a:latin typeface="Segoe UI"/>
                        </a:defRPr>
                      </a:pPr>
                      <a:r>
                        <a:t>S1视觉运动策略</a:t>
                      </a:r>
                    </a:p>
                  </a:txBody>
                  <a:tcPr anchor="t" marL="25400" marR="25400" marT="19050" marB="19050">
                    <a:solidFill>
                      <a:srgbClr val="E3E3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视觉特征+机器人状态+latent融合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57564C"/>
                          </a:solidFill>
                          <a:latin typeface="Segoe UI"/>
                        </a:defRPr>
                      </a:pPr>
                      <a:r>
                        <a:t>200Hz全上身连续控制</a:t>
                      </a:r>
                    </a:p>
                  </a:txBody>
                  <a:tcPr anchor="t" marL="25400" marR="25400" marT="19050" marB="19050">
                    <a:solidFill>
                      <a:srgbClr val="E3E3DF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自然语言指令+机器人状态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机器人/控制端麦克风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单目相机/关节状态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C6B60"/>
                          </a:solidFill>
                          <a:latin typeface="Segoe UI"/>
                        </a:defRPr>
                      </a:pPr>
                      <a:r>
                        <a:t>相机/腕姿/手指位置/机器人状态</a:t>
                      </a:r>
                    </a:p>
                  </a:txBody>
                  <a:tcPr anchor="t" marL="25400" marR="25400" marT="19050" marB="19050">
                    <a:solidFill>
                      <a:srgbClr val="D3EC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4D15"/>
                          </a:solidFill>
                          <a:latin typeface="Segoe UI"/>
                        </a:defRPr>
                      </a:pPr>
                      <a:r>
                        <a:t>S1实时闭环/双GPU流式推理</a:t>
                      </a:r>
                    </a:p>
                  </a:txBody>
                  <a:tcPr anchor="t" marL="25400" marR="25400" marT="19050" marB="19050">
                    <a:solidFill>
                      <a:srgbClr val="F5E0C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语言目标转VLA行为：</a:t>
            </a:r>
            <a:r>
              <a:rPr sz="800" b="0">
                <a:solidFill>
                  <a:srgbClr val="6F6A5E"/>
                </a:solidFill>
                <a:latin typeface="Segoe UI"/>
              </a:rPr>
              <a:t>任务响应入口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自然语言指令采集：</a:t>
            </a:r>
            <a:r>
              <a:rPr sz="800" b="0">
                <a:solidFill>
                  <a:srgbClr val="6F6A5E"/>
                </a:solidFill>
                <a:latin typeface="Segoe UI"/>
              </a:rPr>
              <a:t>文本输入+机器人状态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自然语言交互：</a:t>
            </a:r>
            <a:r>
              <a:rPr sz="800" b="0">
                <a:solidFill>
                  <a:srgbClr val="6F6A5E"/>
                </a:solidFill>
                <a:latin typeface="Segoe UI"/>
              </a:rPr>
              <a:t>语音指令确认/播报全链路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S2 VLM场景理解：</a:t>
            </a:r>
            <a:r>
              <a:rPr sz="800" b="0">
                <a:solidFill>
                  <a:srgbClr val="6F6A5E"/>
                </a:solidFill>
                <a:latin typeface="Segoe UI"/>
              </a:rPr>
              <a:t>陌生物体识别+机载相机状态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视觉信号采集：</a:t>
            </a:r>
            <a:r>
              <a:rPr sz="800" b="0">
                <a:solidFill>
                  <a:srgbClr val="6F6A5E"/>
                </a:solidFill>
                <a:latin typeface="Segoe UI"/>
              </a:rPr>
              <a:t>单目相机/关节状态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C6B60"/>
                </a:solidFill>
                <a:latin typeface="Segoe UI"/>
              </a:rPr>
              <a:t>机器人状态/触觉：</a:t>
            </a:r>
            <a:r>
              <a:rPr sz="800" b="0">
                <a:solidFill>
                  <a:srgbClr val="6F6A5E"/>
                </a:solidFill>
                <a:latin typeface="Segoe UI"/>
              </a:rPr>
              <a:t>任务完成度/碰撞+腕姿手指姿态全链路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4D15"/>
                </a:solidFill>
                <a:latin typeface="Segoe UI"/>
              </a:rPr>
              <a:t>S1闭环控制采集：</a:t>
            </a:r>
            <a:r>
              <a:rPr sz="800" b="0">
                <a:solidFill>
                  <a:srgbClr val="6F6A5E"/>
                </a:solidFill>
                <a:latin typeface="Segoe UI"/>
              </a:rPr>
              <a:t>双GPU流式推理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57564C"/>
                </a:solidFill>
                <a:latin typeface="Segoe UI"/>
              </a:rPr>
              <a:t>⤭ Helix S1/S2双系统架构 ⤭：</a:t>
            </a:r>
            <a:r>
              <a:rPr sz="800" b="0">
                <a:solidFill>
                  <a:srgbClr val="6F6A5E"/>
                </a:solidFill>
                <a:latin typeface="Segoe UI"/>
              </a:rPr>
              <a:t>S2慢速语义→S1快速视觉运动执行的双系统闭环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逐家拆解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2926080" cy="219456"/>
          </a:xfrm>
          <a:prstGeom prst="round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00" b="1">
                <a:solidFill>
                  <a:srgbClr val="3D5A80"/>
                </a:solidFill>
                <a:latin typeface="Segoe UI"/>
              </a:defRPr>
              <a:lnSpc>
                <a:spcPct val="114999"/>
              </a:lnSpc>
            </a:pPr>
            <a:r>
              <a:t>具身机器人 · Tesla Optimus · Figure · Unitree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200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8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Unitree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62179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低成本人形/四足机器人硬件 + 开放SDK生态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主线：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Unitree核心优势是低成本硬件与开放SDK，语音/视觉/文本能力多依赖开发者二次集成。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7893AB"/>
                </a:solidFill>
                <a:latin typeface="Segoe UI"/>
              </a:rPr>
              <a:t>情感支线：</a:t>
            </a:r>
            <a:r>
              <a:rPr sz="850" b="0">
                <a:solidFill>
                  <a:srgbClr val="6F6A5E"/>
                </a:solidFill>
                <a:latin typeface="Segoe UI"/>
              </a:rPr>
              <a:t>情感计算在Unitree体系中基本缺位——文本/语音/视觉更多依赖SDK/开发者二次开发，生理和行为列服务于机器人自身。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2880" y="1463040"/>
          <a:ext cx="11384280" cy="299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194560"/>
                <a:gridCol w="2194560"/>
                <a:gridCol w="2011680"/>
                <a:gridCol w="2194560"/>
                <a:gridCol w="2194560"/>
              </a:tblGrid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层级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文本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语音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视觉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生理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行为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语义指令→运动技能映射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ASR/TTS由开发者/上层应用接入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障碍/人体/物体识别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跌倒/姿态/电机温度/电量监控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L3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外接LLM/开发者算法栈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语音指令→动作命令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深度相机/激光雷达/视觉模型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IMU/关节编码器/力矩估计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6F6A5E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</a:tr>
              <a:tr h="59984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SDK/遥控/ROS式任务接口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麦克风/外部ASR/噪声抑制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强化学习/模仿学习运动策略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IMU/力矩/视觉/足端接触融合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全身控制/步态库/运动技能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</a:tr>
              <a:tr h="5998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1">
                          <a:solidFill>
                            <a:srgbClr val="7893AB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anchor="t" marL="25400" marR="25400" marT="19050" marB="19050">
                    <a:solidFill>
                      <a:srgbClr val="F2EF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1F4068"/>
                          </a:solidFill>
                          <a:latin typeface="Segoe UI"/>
                        </a:defRPr>
                      </a:pPr>
                      <a:r>
                        <a:t>语音/文本/遥控器/开发者程序</a:t>
                      </a:r>
                    </a:p>
                  </a:txBody>
                  <a:tcPr anchor="t" marL="25400" marR="25400" marT="19050" marB="19050">
                    <a:solidFill>
                      <a:srgbClr val="DBE7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215A37"/>
                          </a:solidFill>
                          <a:latin typeface="Segoe UI"/>
                        </a:defRPr>
                      </a:pPr>
                      <a:r>
                        <a:t>机身/外接麦克风输入</a:t>
                      </a:r>
                    </a:p>
                  </a:txBody>
                  <a:tcPr anchor="t" marL="25400" marR="25400" marT="19050" marB="19050">
                    <a:solidFill>
                      <a:srgbClr val="DCEC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7A5A15"/>
                          </a:solidFill>
                          <a:latin typeface="Segoe UI"/>
                        </a:defRPr>
                      </a:pPr>
                      <a:r>
                        <a:t>头部相机/3D LiDAR/深度数据</a:t>
                      </a:r>
                    </a:p>
                  </a:txBody>
                  <a:tcPr anchor="t" marL="25400" marR="25400" marT="19050" marB="19050">
                    <a:solidFill>
                      <a:srgbClr val="F5E9C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4A3785"/>
                          </a:solidFill>
                          <a:latin typeface="Segoe UI"/>
                        </a:defRPr>
                      </a:pPr>
                      <a:r>
                        <a:t>关节/IMU/电机/触地传感</a:t>
                      </a:r>
                    </a:p>
                  </a:txBody>
                  <a:tcPr anchor="t" marL="25400" marR="25400" marT="19050" marB="19050">
                    <a:solidFill>
                      <a:srgbClr val="E6DE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defRPr sz="800" b="0">
                          <a:solidFill>
                            <a:srgbClr val="8A3352"/>
                          </a:solidFill>
                          <a:latin typeface="Segoe UI"/>
                        </a:defRPr>
                      </a:pPr>
                      <a:r>
                        <a:t>实时控制环/遥控/仿真训练数据</a:t>
                      </a:r>
                    </a:p>
                  </a:txBody>
                  <a:tcPr anchor="t" marL="25400" marR="25400" marT="19050" marB="19050">
                    <a:solidFill>
                      <a:srgbClr val="F5DDE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4553712"/>
            <a:ext cx="113385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50" b="1">
                <a:solidFill>
                  <a:srgbClr val="3D5A80"/>
                </a:solidFill>
                <a:latin typeface="Segoe UI"/>
              </a:rPr>
              <a:t>颜色对应特性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1F4068"/>
                </a:solidFill>
                <a:latin typeface="Segoe UI"/>
              </a:rPr>
              <a:t>语义指令与SDK接口：</a:t>
            </a:r>
            <a:r>
              <a:rPr sz="800" b="0">
                <a:solidFill>
                  <a:srgbClr val="6F6A5E"/>
                </a:solidFill>
                <a:latin typeface="Segoe UI"/>
              </a:rPr>
              <a:t>外接LLM/开发者算法栈全链路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215A37"/>
                </a:solidFill>
                <a:latin typeface="Segoe UI"/>
              </a:rPr>
              <a:t>语音/开发者交互：</a:t>
            </a:r>
            <a:r>
              <a:rPr sz="800" b="0">
                <a:solidFill>
                  <a:srgbClr val="6F6A5E"/>
                </a:solidFill>
                <a:latin typeface="Segoe UI"/>
              </a:rPr>
              <a:t>ASR/TTS由开发者接入，官方不提供原生语音理解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7A5A15"/>
                </a:solidFill>
                <a:latin typeface="Segoe UI"/>
              </a:rPr>
              <a:t>视觉与环境感知：</a:t>
            </a:r>
            <a:r>
              <a:rPr sz="800" b="0">
                <a:solidFill>
                  <a:srgbClr val="6F6A5E"/>
                </a:solidFill>
                <a:latin typeface="Segoe UI"/>
              </a:rPr>
              <a:t>障碍/人体/物体识别+深度相机/LiDAR全链路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4A3785"/>
                </a:solidFill>
                <a:latin typeface="Segoe UI"/>
              </a:rPr>
              <a:t>本体/力控状态：</a:t>
            </a:r>
            <a:r>
              <a:rPr sz="800" b="0">
                <a:solidFill>
                  <a:srgbClr val="6F6A5E"/>
                </a:solidFill>
                <a:latin typeface="Segoe UI"/>
              </a:rPr>
              <a:t>跌倒/姿态监控+IMU/关节编码器全链路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8A3352"/>
                </a:solidFill>
                <a:latin typeface="Segoe UI"/>
              </a:rPr>
              <a:t>全身控制与步态执行：</a:t>
            </a:r>
            <a:r>
              <a:rPr sz="800" b="0">
                <a:solidFill>
                  <a:srgbClr val="6F6A5E"/>
                </a:solidFill>
                <a:latin typeface="Segoe UI"/>
              </a:rPr>
              <a:t>运动技能+实时控制环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800" b="1">
                <a:solidFill>
                  <a:srgbClr val="6F6A5E"/>
                </a:solidFill>
                <a:latin typeface="Segoe UI"/>
              </a:rPr>
              <a:t>空白：</a:t>
            </a:r>
            <a:r>
              <a:rPr sz="800" b="0">
                <a:solidFill>
                  <a:srgbClr val="6F6A5E"/>
                </a:solidFill>
                <a:latin typeface="Segoe UI"/>
              </a:rPr>
              <a:t>行为L4/L3官方无对应特性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629400"/>
            <a:ext cx="11338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75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三项命名特性集中在L4且高度依赖SDK/开发者二次集成。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机会点分析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000" b="1">
                <a:solidFill>
                  <a:srgbClr val="211D16"/>
                </a:solidFill>
                <a:latin typeface="Georgia"/>
              </a:defRPr>
              <a:lnSpc>
                <a:spcPct val="114999"/>
              </a:lnSpc>
            </a:pPr>
            <a:r>
              <a:t>OS厂商下一步：谁最接近把"支线"接通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900" b="1">
                <a:solidFill>
                  <a:srgbClr val="211D16"/>
                </a:solidFill>
                <a:latin typeface="Segoe UI"/>
              </a:rPr>
              <a:t>五家OS/硬件平台的行为信号采集覆盖面很广</a:t>
            </a:r>
            <a:r>
              <a:rPr sz="900" b="0">
                <a:solidFill>
                  <a:srgbClr val="6F6A5E"/>
                </a:solidFill>
                <a:latin typeface="Segoe UI"/>
              </a:rPr>
              <a:t>——但无一例外停留在"统计聚合"层面，没有接入情绪推断模型。</a:t>
            </a:r>
          </a:p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900" b="0">
                <a:solidFill>
                  <a:srgbClr val="6F6A5E"/>
                </a:solidFill>
                <a:latin typeface="Segoe UI"/>
              </a:rPr>
              <a:t>机会窗口不在"从零发明新信号源"，而在于</a:t>
            </a:r>
            <a:r>
              <a:rPr sz="900" b="1">
                <a:solidFill>
                  <a:srgbClr val="211D16"/>
                </a:solidFill>
                <a:latin typeface="Segoe UI"/>
              </a:rPr>
              <a:t>把已采集但未用于情绪推断的信号，升级为持续状态模型</a:t>
            </a:r>
            <a:r>
              <a:rPr sz="900" b="0">
                <a:solidFill>
                  <a:srgbClr val="6F6A5E"/>
                </a:solidFill>
                <a:latin typeface="Segoe UI"/>
              </a:rPr>
              <a:t>——尤其是"仅规则触发、无持续响应"的半成品。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17320"/>
            <a:ext cx="113385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Google — Spark/Halo与Pause Point规则引擎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0">
                <a:solidFill>
                  <a:srgbClr val="6F6A5E"/>
                </a:solidFill>
                <a:latin typeface="Segoe UI"/>
              </a:rPr>
              <a:t>Google已搭好云端Agent(Antigravity)+状态UI框架，触发逻辑仍是硬编码规则。若将Body Response(cEDA+HR/HRV+ML分类)接入Spark/Halo触发条件，可从"规则触发"升级为"生理状态驱动的持续情绪响应"。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B3392C"/>
                </a:solidFill>
                <a:latin typeface="Segoe UI"/>
              </a:rPr>
              <a:t>风险：</a:t>
            </a:r>
            <a:r>
              <a:rPr sz="850" b="0">
                <a:solidFill>
                  <a:srgbClr val="6F6A5E"/>
                </a:solidFill>
                <a:latin typeface="Segoe UI"/>
              </a:rPr>
              <a:t>横跨搜索/健康/Agent三条线，压力/情绪状态用于任务调度或广告Agent决策容易引发隐私质疑。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108960"/>
            <a:ext cx="113385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Apple — State of Mind与Screen Time的割裂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0">
                <a:solidFill>
                  <a:srgbClr val="6F6A5E"/>
                </a:solidFill>
                <a:latin typeface="Segoe UI"/>
              </a:rPr>
              <a:t>State of Mind是"自评量表+Health趋势"的闭环，Screen Time只做统计不做推断，二者尚未打通。下一步是把Screen Time行为模式作为被动信号补全State of Mind主动自评(PHQ-9/GAD-7)的短板，从"用户填量表"升级为"系统被动推断+量表校验"。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B3392C"/>
                </a:solidFill>
                <a:latin typeface="Segoe UI"/>
              </a:rPr>
              <a:t>风险：</a:t>
            </a:r>
            <a:r>
              <a:rPr sz="850" b="0">
                <a:solidFill>
                  <a:srgbClr val="6F6A5E"/>
                </a:solidFill>
                <a:latin typeface="Segoe UI"/>
              </a:rPr>
              <a:t>State of Mind定位为"正当入口"，引入被动行为推断容易触碰医疗器械监管边界。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800600"/>
            <a:ext cx="113385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Samsung — Energy Score与Digital Wellbeing的模型缺口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0">
                <a:solidFill>
                  <a:srgbClr val="6F6A5E"/>
                </a:solidFill>
                <a:latin typeface="Segoe UI"/>
              </a:rPr>
              <a:t>Energy Score已是成熟功能(压力趋势/睡眠恢复评分)，技术上离情绪推断最近；Digital Wellbeing仍是纯统计。下一步是把Energy Score生理时序模型与Digital Wellbeing行为数据联合建模。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B3392C"/>
                </a:solidFill>
                <a:latin typeface="Segoe UI"/>
              </a:rPr>
              <a:t>风险：</a:t>
            </a:r>
            <a:r>
              <a:rPr sz="850" b="0">
                <a:solidFill>
                  <a:srgbClr val="6F6A5E"/>
                </a:solidFill>
                <a:latin typeface="Segoe UI"/>
              </a:rPr>
              <a:t>模型层"明显依赖Google"，情绪推断升级可能进一步绑定Google云端，加剧第三方模型依赖和数据出境争议。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800" b="1">
                <a:solidFill>
                  <a:srgbClr val="7893AB"/>
                </a:solidFill>
                <a:latin typeface="Segoe UI"/>
              </a:defRPr>
              <a:lnSpc>
                <a:spcPct val="114999"/>
              </a:lnSpc>
            </a:pPr>
            <a:r>
              <a:t>机会点分析 · 续 + 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411480"/>
            <a:ext cx="1133856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8463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Microsoft — Recall与Clippy/Emotion API的双重阴影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0408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0">
                <a:solidFill>
                  <a:srgbClr val="6F6A5E"/>
                </a:solidFill>
                <a:latin typeface="Segoe UI"/>
              </a:rPr>
              <a:t>Recall技术上已具备理解长期行为轨迹的能力，是五家里唯一写出历史失败案例对照的(Clippy"缺乏准确状态模型=骚扰"下线，Emotion API"视觉情绪风险高"2022下架)。往情绪感知延伸必须先解决"状态模型不准=骚扰"的教训。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B3392C"/>
                </a:solidFill>
                <a:latin typeface="Segoe UI"/>
              </a:rPr>
              <a:t>风险：</a:t>
            </a:r>
            <a:r>
              <a:rPr sz="850" b="0">
                <a:solidFill>
                  <a:srgbClr val="6F6A5E"/>
                </a:solidFill>
                <a:latin typeface="Segoe UI"/>
              </a:rPr>
              <a:t>一旦重蹈Clippy/Emotion API覆辙，品牌历史包袱会被反复提及。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133856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 b="1">
                <a:solidFill>
                  <a:srgbClr val="211D16"/>
                </a:solidFill>
                <a:latin typeface="Segoe UI"/>
              </a:defRPr>
              <a:lnSpc>
                <a:spcPct val="114999"/>
              </a:lnSpc>
            </a:pPr>
            <a:r>
              <a:t>vivo — AI舒眠与OriginOS舒适工程的"人因"路线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0">
                <a:solidFill>
                  <a:srgbClr val="6F6A5E"/>
                </a:solidFill>
                <a:latin typeface="Segoe UI"/>
              </a:rPr>
              <a:t>vivo走"人因体验"而非"情绪识别"路线，但生理列已有"睡眠阶段/作息/压力趋势"时序模型雏形，行为列作息服务也在做个人基线聚合。机会在于以"舒适工程"为包装、生理时序模型为底层，做不叫"情绪识别"但实质做情绪状态推断的产品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5000"/>
              </a:lnSpc>
            </a:pPr>
            <a:r>
              <a:rPr sz="850" b="1">
                <a:solidFill>
                  <a:srgbClr val="B3392C"/>
                </a:solidFill>
                <a:latin typeface="Segoe UI"/>
              </a:rPr>
              <a:t>风险：</a:t>
            </a:r>
            <a:r>
              <a:rPr sz="850" b="0">
                <a:solidFill>
                  <a:srgbClr val="6F6A5E"/>
                </a:solidFill>
                <a:latin typeface="Segoe UI"/>
              </a:rPr>
              <a:t>技术细节公开程度低，实际能力与宣传口径落差可能成为可信度问题。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46120"/>
            <a:ext cx="11338560" cy="3291840"/>
          </a:xfrm>
          <a:prstGeom prst="rect">
            <a:avLst/>
          </a:prstGeom>
          <a:solidFill>
            <a:srgbClr val="E8EEF4"/>
          </a:solidFill>
          <a:ln w="6350">
            <a:solidFill>
              <a:srgbClr val="E2DC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46120"/>
            <a:ext cx="64008" cy="3291840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1018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950" b="1">
                <a:solidFill>
                  <a:srgbClr val="211D16"/>
                </a:solidFill>
                <a:latin typeface="Segoe UI"/>
              </a:rPr>
              <a:t>技术就绪度排序：</a:t>
            </a:r>
            <a:r>
              <a:rPr sz="900" b="0">
                <a:solidFill>
                  <a:srgbClr val="6F6A5E"/>
                </a:solidFill>
                <a:latin typeface="Segoe UI"/>
              </a:rPr>
              <a:t>Samsung(Energy Score)和Google(Body Response接入Spark/Halo)最高——已有成熟生理时序ML分类模型，缺的只是"最后一公里"；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900" b="0">
                <a:solidFill>
                  <a:srgbClr val="6F6A5E"/>
                </a:solidFill>
                <a:latin typeface="Segoe UI"/>
              </a:rPr>
              <a:t>Apple(State of Mind)次之，模型基础好但受限于谨慎的医疗合规立场；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900" b="0">
                <a:solidFill>
                  <a:srgbClr val="6F6A5E"/>
                </a:solidFill>
                <a:latin typeface="Segoe UI"/>
              </a:rPr>
              <a:t>Microsoft技术上具备条件(Recall本地语义索引)，但战略上最不愿意走，"有能力、无意愿"；vivo技术公开程度最低，机会存在但难以验证。</a:t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500" b="0">
                <a:solidFill>
                  <a:srgbClr val="6F6A5E"/>
                </a:solidFill>
                <a:latin typeface="Segoe UI"/>
              </a:rPr>
              <a:t/>
            </a:r>
          </a:p>
          <a:p>
            <a:pPr algn="l">
              <a:spcAft>
                <a:spcPts val="100"/>
              </a:spcAft>
              <a:lnSpc>
                <a:spcPct val="108000"/>
              </a:lnSpc>
            </a:pPr>
            <a:r>
              <a:rPr sz="950" b="1">
                <a:solidFill>
                  <a:srgbClr val="211D16"/>
                </a:solidFill>
                <a:latin typeface="Segoe UI"/>
              </a:rPr>
              <a:t>共同的结构性缺口：</a:t>
            </a:r>
            <a:r>
              <a:rPr sz="900" b="0">
                <a:solidFill>
                  <a:srgbClr val="6F6A5E"/>
                </a:solidFill>
                <a:latin typeface="Segoe UI"/>
              </a:rPr>
              <a:t>没有一家把语音韵律、生理信号、行为信号做成同一个持续状态模型——每类信号活在各自产品孤岛里。即便率先打通"规则触发→持续响应"，也大概率是单模态局部升级，而非真正的多模态融合情绪状态引擎——这是所有平台共同缺失、也是长期最大的技术与产品机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11338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800" b="0">
                <a:solidFill>
                  <a:srgbClr val="6F6A5E"/>
                </a:solidFill>
                <a:latin typeface="Segoe UI"/>
              </a:defRPr>
              <a:lnSpc>
                <a:spcPct val="114999"/>
              </a:lnSpc>
            </a:pPr>
            <a:r>
              <a:t>基于《OS情感计算竞品分析内容底表》13家公司标签页（核查修正版）与技术地图框架生成 · 2026 OS Platform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